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3"/>
    <p:sldId id="264" r:id="rId4"/>
    <p:sldId id="265" r:id="rId5"/>
    <p:sldId id="275" r:id="rId6"/>
    <p:sldId id="276" r:id="rId7"/>
    <p:sldId id="308" r:id="rId8"/>
    <p:sldId id="309" r:id="rId9"/>
    <p:sldId id="310" r:id="rId10"/>
    <p:sldId id="311" r:id="rId11"/>
    <p:sldId id="312" r:id="rId12"/>
    <p:sldId id="313" r:id="rId13"/>
    <p:sldId id="277" r:id="rId14"/>
    <p:sldId id="280" r:id="rId15"/>
    <p:sldId id="314" r:id="rId16"/>
    <p:sldId id="281" r:id="rId17"/>
    <p:sldId id="283" r:id="rId18"/>
    <p:sldId id="315" r:id="rId19"/>
    <p:sldId id="284" r:id="rId20"/>
    <p:sldId id="316" r:id="rId21"/>
    <p:sldId id="317" r:id="rId22"/>
    <p:sldId id="299" r:id="rId23"/>
    <p:sldId id="318" r:id="rId24"/>
    <p:sldId id="319" r:id="rId25"/>
  </p:sldIdLst>
  <p:sldSz cx="18288000" cy="10287000"/>
  <p:notesSz cx="6858000" cy="9144000"/>
  <p:embeddedFontLst>
    <p:embeddedFont>
      <p:font typeface="Agrandir" pitchFamily="2" charset="77"/>
      <p:regular r:id="rId26"/>
    </p:embeddedFont>
    <p:embeddedFont>
      <p:font typeface="Agrandir Bold" pitchFamily="2" charset="77"/>
      <p:regular r:id="rId27"/>
      <p:bold r:id="rId28"/>
    </p:embeddedFont>
    <p:embeddedFont>
      <p:font typeface="Arial Narrow" panose="020B0604020202020204" pitchFamily="34" charset="0"/>
      <p:regular r:id="rId29"/>
      <p:bold r:id="rId30"/>
      <p:italic r:id="rId31"/>
      <p:boldItalic r:id="rId32"/>
    </p:embeddedFont>
    <p:embeddedFont>
      <p:font typeface="Arimo" panose="020F07020304040A0204" pitchFamily="34" charset="0"/>
      <p:regular r:id="rId33"/>
    </p:embeddedFont>
    <p:embeddedFont>
      <p:font typeface="Arimo Bold" pitchFamily="2" charset="77"/>
      <p:regular r:id="rId34"/>
      <p:bold r:id="rId35"/>
    </p:embeddedFont>
    <p:embeddedFont>
      <p:font typeface="Biome" panose="020B0503030204020804" pitchFamily="34" charset="0"/>
      <p:regular r:id="rId36"/>
      <p:italic r:id="rId37"/>
    </p:embeddedFont>
    <p:embeddedFont>
      <p:font typeface="Brought" pitchFamily="2" charset="77"/>
      <p:regular r:id="rId38"/>
    </p:embeddedFont>
    <p:embeddedFont>
      <p:font typeface="Cy Grotesk Wide Bold" pitchFamily="2" charset="77"/>
      <p:regular r:id="rId39"/>
      <p:bold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autoAdjust="0"/>
    <p:restoredTop sz="94656" autoAdjust="0"/>
  </p:normalViewPr>
  <p:slideViewPr>
    <p:cSldViewPr>
      <p:cViewPr varScale="1">
        <p:scale>
          <a:sx n="74" d="100"/>
          <a:sy n="74" d="100"/>
        </p:scale>
        <p:origin x="53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8.fntdata"/><Relationship Id="rId38"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sp>
        <p:nvSpPr>
          <p:cNvPr id="3" name="Freeform 3"/>
          <p:cNvSpPr/>
          <p:nvPr/>
        </p:nvSpPr>
        <p:spPr>
          <a:xfrm>
            <a:off x="2147994" y="4081939"/>
            <a:ext cx="3413119" cy="3067540"/>
          </a:xfrm>
          <a:custGeom>
            <a:avLst/>
            <a:gdLst/>
            <a:ahLst/>
            <a:cxnLst/>
            <a:rect l="l" t="t" r="r" b="b"/>
            <a:pathLst>
              <a:path w="3413119" h="3067540">
                <a:moveTo>
                  <a:pt x="0" y="0"/>
                </a:moveTo>
                <a:lnTo>
                  <a:pt x="3413118" y="0"/>
                </a:lnTo>
                <a:lnTo>
                  <a:pt x="3413118" y="3067541"/>
                </a:lnTo>
                <a:lnTo>
                  <a:pt x="0" y="30675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4" name="TextBox 4"/>
          <p:cNvSpPr txBox="1"/>
          <p:nvPr/>
        </p:nvSpPr>
        <p:spPr>
          <a:xfrm>
            <a:off x="3172142" y="4330770"/>
            <a:ext cx="12000212" cy="2294224"/>
          </a:xfrm>
          <a:prstGeom prst="rect">
            <a:avLst/>
          </a:prstGeom>
        </p:spPr>
        <p:txBody>
          <a:bodyPr lIns="0" tIns="0" rIns="0" bIns="0" rtlCol="0" anchor="t">
            <a:spAutoFit/>
          </a:bodyPr>
          <a:lstStyle/>
          <a:p>
            <a:pPr algn="ctr">
              <a:lnSpc>
                <a:spcPts val="14198"/>
              </a:lnSpc>
            </a:pPr>
            <a:r>
              <a:rPr lang="en-US" sz="14198" b="1">
                <a:solidFill>
                  <a:srgbClr val="F8F8F8"/>
                </a:solidFill>
                <a:latin typeface="Agrandir Bold"/>
                <a:ea typeface="Agrandir Bold"/>
                <a:cs typeface="Agrandir Bold"/>
                <a:sym typeface="Agrandir Bold"/>
              </a:rPr>
              <a:t>WORLD</a:t>
            </a:r>
          </a:p>
        </p:txBody>
      </p:sp>
      <p:sp>
        <p:nvSpPr>
          <p:cNvPr id="5" name="Freeform 5"/>
          <p:cNvSpPr/>
          <p:nvPr/>
        </p:nvSpPr>
        <p:spPr>
          <a:xfrm rot="981343">
            <a:off x="15673142" y="7091056"/>
            <a:ext cx="2637695" cy="2732484"/>
          </a:xfrm>
          <a:custGeom>
            <a:avLst/>
            <a:gdLst/>
            <a:ahLst/>
            <a:cxnLst/>
            <a:rect l="l" t="t" r="r" b="b"/>
            <a:pathLst>
              <a:path w="3959416" h="3707004">
                <a:moveTo>
                  <a:pt x="0" y="0"/>
                </a:moveTo>
                <a:lnTo>
                  <a:pt x="3959416" y="0"/>
                </a:lnTo>
                <a:lnTo>
                  <a:pt x="3959416" y="3707004"/>
                </a:lnTo>
                <a:lnTo>
                  <a:pt x="0" y="37070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flipH="1" flipV="1">
            <a:off x="12726888" y="3560056"/>
            <a:ext cx="3413119" cy="3067540"/>
          </a:xfrm>
          <a:custGeom>
            <a:avLst/>
            <a:gdLst/>
            <a:ahLst/>
            <a:cxnLst/>
            <a:rect l="l" t="t" r="r" b="b"/>
            <a:pathLst>
              <a:path w="3413119" h="3067540">
                <a:moveTo>
                  <a:pt x="3413118" y="3067541"/>
                </a:moveTo>
                <a:lnTo>
                  <a:pt x="0" y="3067541"/>
                </a:lnTo>
                <a:lnTo>
                  <a:pt x="0" y="0"/>
                </a:lnTo>
                <a:lnTo>
                  <a:pt x="3413118" y="0"/>
                </a:lnTo>
                <a:lnTo>
                  <a:pt x="3413118" y="3067541"/>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rot="-1288405">
            <a:off x="107534" y="16402"/>
            <a:ext cx="3923812" cy="3338807"/>
          </a:xfrm>
          <a:custGeom>
            <a:avLst/>
            <a:gdLst/>
            <a:ahLst/>
            <a:cxnLst/>
            <a:rect l="l" t="t" r="r" b="b"/>
            <a:pathLst>
              <a:path w="3923812" h="3338807">
                <a:moveTo>
                  <a:pt x="0" y="0"/>
                </a:moveTo>
                <a:lnTo>
                  <a:pt x="3923812" y="0"/>
                </a:lnTo>
                <a:lnTo>
                  <a:pt x="3923812" y="3338807"/>
                </a:lnTo>
                <a:lnTo>
                  <a:pt x="0" y="33388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rot="6472765">
            <a:off x="3854744" y="-406460"/>
            <a:ext cx="1786831" cy="2620685"/>
          </a:xfrm>
          <a:custGeom>
            <a:avLst/>
            <a:gdLst/>
            <a:ahLst/>
            <a:cxnLst/>
            <a:rect l="l" t="t" r="r" b="b"/>
            <a:pathLst>
              <a:path w="1786831" h="2620685">
                <a:moveTo>
                  <a:pt x="0" y="0"/>
                </a:moveTo>
                <a:lnTo>
                  <a:pt x="1786831" y="0"/>
                </a:lnTo>
                <a:lnTo>
                  <a:pt x="1786831" y="2620685"/>
                </a:lnTo>
                <a:lnTo>
                  <a:pt x="0" y="262068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9" name="TextBox 9"/>
          <p:cNvSpPr txBox="1"/>
          <p:nvPr/>
        </p:nvSpPr>
        <p:spPr>
          <a:xfrm>
            <a:off x="3276917" y="3308970"/>
            <a:ext cx="10623271" cy="1120774"/>
          </a:xfrm>
          <a:prstGeom prst="rect">
            <a:avLst/>
          </a:prstGeom>
        </p:spPr>
        <p:txBody>
          <a:bodyPr lIns="0" tIns="0" rIns="0" bIns="0" rtlCol="0" anchor="t">
            <a:spAutoFit/>
          </a:bodyPr>
          <a:lstStyle/>
          <a:p>
            <a:pPr algn="l">
              <a:lnSpc>
                <a:spcPts val="6999"/>
              </a:lnSpc>
            </a:pPr>
            <a:r>
              <a:rPr lang="en-US" sz="6999">
                <a:solidFill>
                  <a:srgbClr val="CAEDAB"/>
                </a:solidFill>
                <a:latin typeface="Agrandir"/>
                <a:ea typeface="Agrandir"/>
                <a:cs typeface="Agrandir"/>
                <a:sym typeface="Agrandir"/>
              </a:rPr>
              <a:t>THE CONTEMPORARY</a:t>
            </a:r>
          </a:p>
        </p:txBody>
      </p:sp>
      <p:sp>
        <p:nvSpPr>
          <p:cNvPr id="10" name="TextBox 10"/>
          <p:cNvSpPr txBox="1"/>
          <p:nvPr/>
        </p:nvSpPr>
        <p:spPr>
          <a:xfrm>
            <a:off x="6269510" y="6542978"/>
            <a:ext cx="8529506" cy="694742"/>
          </a:xfrm>
          <a:prstGeom prst="rect">
            <a:avLst/>
          </a:prstGeom>
        </p:spPr>
        <p:txBody>
          <a:bodyPr lIns="0" tIns="0" rIns="0" bIns="0" rtlCol="0" anchor="t">
            <a:spAutoFit/>
          </a:bodyPr>
          <a:lstStyle/>
          <a:p>
            <a:pPr algn="l">
              <a:lnSpc>
                <a:spcPts val="5470"/>
              </a:lnSpc>
            </a:pPr>
            <a:r>
              <a:rPr lang="en-US" sz="4307" dirty="0">
                <a:solidFill>
                  <a:srgbClr val="F8F8F8"/>
                </a:solidFill>
                <a:latin typeface="Agrandir"/>
                <a:ea typeface="Agrandir"/>
                <a:cs typeface="Agrandir"/>
                <a:sym typeface="Agrandir"/>
              </a:rPr>
              <a:t>PROF. DR. JACKELYN L. LEGASPI</a:t>
            </a:r>
          </a:p>
        </p:txBody>
      </p:sp>
      <p:sp>
        <p:nvSpPr>
          <p:cNvPr id="11" name="Freeform 11"/>
          <p:cNvSpPr/>
          <p:nvPr/>
        </p:nvSpPr>
        <p:spPr>
          <a:xfrm rot="-4873975">
            <a:off x="13464527" y="7839079"/>
            <a:ext cx="1937841" cy="2842167"/>
          </a:xfrm>
          <a:custGeom>
            <a:avLst/>
            <a:gdLst/>
            <a:ahLst/>
            <a:cxnLst/>
            <a:rect l="l" t="t" r="r" b="b"/>
            <a:pathLst>
              <a:path w="1937841" h="2842167">
                <a:moveTo>
                  <a:pt x="0" y="0"/>
                </a:moveTo>
                <a:lnTo>
                  <a:pt x="1937841" y="0"/>
                </a:lnTo>
                <a:lnTo>
                  <a:pt x="1937841" y="2842167"/>
                </a:lnTo>
                <a:lnTo>
                  <a:pt x="0" y="28421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5D4B"/>
        </a:solidFill>
        <a:effectLst/>
      </p:bgPr>
    </p:bg>
    <p:spTree>
      <p:nvGrpSpPr>
        <p:cNvPr id="1" name=""/>
        <p:cNvGrpSpPr/>
        <p:nvPr/>
      </p:nvGrpSpPr>
      <p:grpSpPr>
        <a:xfrm>
          <a:off x="0" y="0"/>
          <a:ext cx="0" cy="0"/>
          <a:chOff x="0" y="0"/>
          <a:chExt cx="0" cy="0"/>
        </a:xfrm>
      </p:grpSpPr>
      <p:sp>
        <p:nvSpPr>
          <p:cNvPr id="2" name="TextBox 2"/>
          <p:cNvSpPr txBox="1"/>
          <p:nvPr/>
        </p:nvSpPr>
        <p:spPr>
          <a:xfrm>
            <a:off x="533400" y="549729"/>
            <a:ext cx="17449800" cy="7299049"/>
          </a:xfrm>
          <a:prstGeom prst="rect">
            <a:avLst/>
          </a:prstGeom>
        </p:spPr>
        <p:txBody>
          <a:bodyPr wrap="square" lIns="0" tIns="0" rIns="0" bIns="0" rtlCol="0" anchor="t">
            <a:spAutoFit/>
          </a:bodyPr>
          <a:lstStyle/>
          <a:p>
            <a:pPr algn="ctr">
              <a:lnSpc>
                <a:spcPts val="9000"/>
              </a:lnSpc>
              <a:spcBef>
                <a:spcPct val="0"/>
              </a:spcBef>
            </a:pPr>
            <a:r>
              <a:rPr lang="en-US" sz="9000" b="1" dirty="0">
                <a:ln w="6600">
                  <a:solidFill>
                    <a:srgbClr val="FFFF00"/>
                  </a:solidFill>
                  <a:prstDash val="solid"/>
                </a:ln>
                <a:solidFill>
                  <a:srgbClr val="C00000"/>
                </a:solidFill>
                <a:effectLst>
                  <a:outerShdw dist="38100" dir="2700000" algn="tl" rotWithShape="0">
                    <a:schemeClr val="accent2"/>
                  </a:outerShdw>
                </a:effectLst>
                <a:latin typeface="Brought" charset="0"/>
                <a:ea typeface="Agrandir"/>
                <a:cs typeface="Agrandir"/>
                <a:sym typeface="Agrandir"/>
              </a:rPr>
              <a:t>Individual activity  no. 2</a:t>
            </a:r>
          </a:p>
          <a:p>
            <a:pPr marL="742950" indent="-742950">
              <a:lnSpc>
                <a:spcPts val="9000"/>
              </a:lnSpc>
              <a:spcBef>
                <a:spcPct val="0"/>
              </a:spcBef>
              <a:buAutoNum type="arabicPeriod"/>
            </a:pPr>
            <a:r>
              <a:rPr lang="en-US" sz="3600" b="1" dirty="0">
                <a:solidFill>
                  <a:schemeClr val="bg1"/>
                </a:solidFill>
                <a:latin typeface="Arial" panose="020B0604020202020204" pitchFamily="34" charset="0"/>
                <a:cs typeface="Arial" panose="020B0604020202020204" pitchFamily="34" charset="0"/>
                <a:sym typeface="Agrandir"/>
              </a:rPr>
              <a:t>C</a:t>
            </a:r>
            <a:r>
              <a:rPr lang="en-US" sz="3600" b="1" dirty="0">
                <a:solidFill>
                  <a:schemeClr val="bg1"/>
                </a:solidFill>
                <a:latin typeface="Arial" panose="020B0604020202020204" pitchFamily="34" charset="0"/>
                <a:cs typeface="Arial" panose="020B0604020202020204" pitchFamily="34" charset="0"/>
              </a:rPr>
              <a:t>reate a POSTER representing global inequality</a:t>
            </a:r>
            <a:r>
              <a:rPr lang="en-US" sz="3600" dirty="0">
                <a:solidFill>
                  <a:schemeClr val="bg1"/>
                </a:solidFill>
                <a:latin typeface="Arial" panose="020B0604020202020204" pitchFamily="34" charset="0"/>
                <a:cs typeface="Arial" panose="020B0604020202020204" pitchFamily="34" charset="0"/>
              </a:rPr>
              <a:t> </a:t>
            </a:r>
            <a:r>
              <a:rPr lang="en-US" sz="3600" b="1" dirty="0">
                <a:solidFill>
                  <a:schemeClr val="bg1"/>
                </a:solidFill>
                <a:latin typeface="Arial" panose="020B0604020202020204" pitchFamily="34" charset="0"/>
                <a:cs typeface="Arial" panose="020B0604020202020204" pitchFamily="34" charset="0"/>
              </a:rPr>
              <a:t>through visual storytelling.</a:t>
            </a:r>
          </a:p>
          <a:p>
            <a:pPr>
              <a:buNone/>
            </a:pPr>
            <a:r>
              <a:rPr lang="en-US" sz="3600" b="1" dirty="0">
                <a:solidFill>
                  <a:schemeClr val="bg1"/>
                </a:solidFill>
                <a:latin typeface="Arial" panose="020B0604020202020204" pitchFamily="34" charset="0"/>
                <a:cs typeface="Arial" panose="020B0604020202020204" pitchFamily="34" charset="0"/>
              </a:rPr>
              <a:t>2.    Posters should include:</a:t>
            </a:r>
          </a:p>
          <a:p>
            <a:pPr>
              <a:buFont typeface="Arial" panose="020B0604020202020204" pitchFamily="34" charset="0"/>
              <a:buChar char="•"/>
            </a:pPr>
            <a:r>
              <a:rPr lang="en-US" sz="3600" b="1" dirty="0">
                <a:solidFill>
                  <a:schemeClr val="bg1"/>
                </a:solidFill>
                <a:latin typeface="Arial" panose="020B0604020202020204" pitchFamily="34" charset="0"/>
                <a:cs typeface="Arial" panose="020B0604020202020204" pitchFamily="34" charset="0"/>
              </a:rPr>
              <a:t>Title or slogan: A catchy and meaningful phrase that captures the theme (e.g., </a:t>
            </a:r>
            <a:r>
              <a:rPr lang="en-US" sz="3600" b="1" i="1" dirty="0">
                <a:solidFill>
                  <a:schemeClr val="bg1"/>
                </a:solidFill>
                <a:latin typeface="Arial" panose="020B0604020202020204" pitchFamily="34" charset="0"/>
                <a:cs typeface="Arial" panose="020B0604020202020204" pitchFamily="34" charset="0"/>
              </a:rPr>
              <a:t>"A World Divided: Education for Some, Not for All"</a:t>
            </a:r>
            <a:r>
              <a:rPr lang="en-US" sz="3600" b="1" dirty="0">
                <a:solidFill>
                  <a:schemeClr val="bg1"/>
                </a:solidFill>
                <a:latin typeface="Arial" panose="020B0604020202020204" pitchFamily="34" charset="0"/>
                <a:cs typeface="Arial" panose="020B0604020202020204" pitchFamily="34" charset="0"/>
              </a:rPr>
              <a:t>, </a:t>
            </a:r>
            <a:r>
              <a:rPr lang="en-US" sz="3600" b="1" i="1" dirty="0">
                <a:solidFill>
                  <a:schemeClr val="bg1"/>
                </a:solidFill>
                <a:latin typeface="Arial" panose="020B0604020202020204" pitchFamily="34" charset="0"/>
                <a:cs typeface="Arial" panose="020B0604020202020204" pitchFamily="34" charset="0"/>
              </a:rPr>
              <a:t>"Health is a Privilege, Not a Right"</a:t>
            </a:r>
            <a:r>
              <a:rPr lang="en-US" sz="3600" b="1" dirty="0">
                <a:solidFill>
                  <a:schemeClr val="bg1"/>
                </a:solidFill>
                <a:latin typeface="Arial" panose="020B0604020202020204" pitchFamily="34" charset="0"/>
                <a:cs typeface="Arial" panose="020B0604020202020204" pitchFamily="34" charset="0"/>
              </a:rPr>
              <a:t>)</a:t>
            </a:r>
          </a:p>
          <a:p>
            <a:r>
              <a:rPr lang="en-US" sz="4400" b="1" dirty="0">
                <a:solidFill>
                  <a:schemeClr val="bg1"/>
                </a:solidFill>
              </a:rPr>
              <a:t>3.</a:t>
            </a:r>
            <a:r>
              <a:rPr lang="en-PH" sz="4400" dirty="0"/>
              <a:t> </a:t>
            </a:r>
            <a:r>
              <a:rPr lang="en-PH" sz="4400" dirty="0">
                <a:solidFill>
                  <a:schemeClr val="bg1"/>
                </a:solidFill>
              </a:rPr>
              <a:t>Presentation and Reflection</a:t>
            </a:r>
          </a:p>
          <a:p>
            <a:endParaRPr lang="en-US" sz="3600" b="1" dirty="0">
              <a:solidFill>
                <a:schemeClr val="bg1"/>
              </a:solidFill>
            </a:endParaRPr>
          </a:p>
          <a:p>
            <a:endParaRPr lang="en-US" sz="3600" b="1" dirty="0">
              <a:solidFill>
                <a:schemeClr val="bg1"/>
              </a:solidFill>
            </a:endParaRPr>
          </a:p>
          <a:p>
            <a:pPr marL="742950" indent="-742950">
              <a:lnSpc>
                <a:spcPts val="9000"/>
              </a:lnSpc>
              <a:spcBef>
                <a:spcPct val="0"/>
              </a:spcBef>
              <a:buAutoNum type="arabicPeriod"/>
            </a:pPr>
            <a:endParaRPr lang="en-US" sz="3600" b="1" dirty="0">
              <a:solidFill>
                <a:schemeClr val="bg1"/>
              </a:solidFill>
              <a:latin typeface="Agrandir"/>
              <a:ea typeface="Agrandir"/>
              <a:cs typeface="Agrandir"/>
              <a:sym typeface="Agrandir"/>
            </a:endParaRPr>
          </a:p>
        </p:txBody>
      </p:sp>
      <p:sp>
        <p:nvSpPr>
          <p:cNvPr id="4" name="Rectangle 2">
            <a:extLst>
              <a:ext uri="{FF2B5EF4-FFF2-40B4-BE49-F238E27FC236}">
                <a16:creationId xmlns:a16="http://schemas.microsoft.com/office/drawing/2014/main" id="{A34B3251-AE6F-751D-9487-F666CDCA91F4}"/>
              </a:ext>
            </a:extLst>
          </p:cNvPr>
          <p:cNvSpPr>
            <a:spLocks noChangeArrowheads="1"/>
          </p:cNvSpPr>
          <p:nvPr/>
        </p:nvSpPr>
        <p:spPr bwMode="auto">
          <a:xfrm>
            <a:off x="990600" y="6057900"/>
            <a:ext cx="16535400"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bg1"/>
                </a:solidFill>
                <a:effectLst/>
                <a:latin typeface="Arial" panose="020B0604020202020204" pitchFamily="34" charset="0"/>
              </a:rPr>
              <a:t>Have students present their posters to the class.</a:t>
            </a:r>
          </a:p>
          <a:p>
            <a:pPr lvl="2" eaLnBrk="0" fontAlgn="base" hangingPunct="0">
              <a:spcBef>
                <a:spcPct val="0"/>
              </a:spcBef>
              <a:spcAft>
                <a:spcPct val="0"/>
              </a:spcAft>
              <a:buFontTx/>
              <a:buChar char="•"/>
            </a:pPr>
            <a:r>
              <a:rPr kumimoji="0" lang="en-US" altLang="en-US" sz="3200" b="1" i="0" u="none" strike="noStrike" cap="none" normalizeH="0" baseline="0" dirty="0">
                <a:ln>
                  <a:noFill/>
                </a:ln>
                <a:solidFill>
                  <a:schemeClr val="bg1"/>
                </a:solidFill>
                <a:effectLst/>
                <a:latin typeface="Arial" panose="020B0604020202020204" pitchFamily="34" charset="0"/>
              </a:rPr>
              <a:t>During the presentation, they should: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bg1"/>
                </a:solidFill>
                <a:effectLst/>
                <a:latin typeface="Arial" panose="020B0604020202020204" pitchFamily="34" charset="0"/>
              </a:rPr>
              <a:t>Explain their visual choices and how they represent inequality in education, healthcare, economy, or politics.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bg1"/>
                </a:solidFill>
                <a:effectLst/>
                <a:latin typeface="Arial" panose="020B0604020202020204" pitchFamily="34" charset="0"/>
              </a:rPr>
              <a:t>Share the message or emotion they want the viewers to take away.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5D4B"/>
        </a:solidFill>
        <a:effectLst/>
      </p:bgPr>
    </p:bg>
    <p:spTree>
      <p:nvGrpSpPr>
        <p:cNvPr id="1" name=""/>
        <p:cNvGrpSpPr/>
        <p:nvPr/>
      </p:nvGrpSpPr>
      <p:grpSpPr>
        <a:xfrm>
          <a:off x="0" y="0"/>
          <a:ext cx="0" cy="0"/>
          <a:chOff x="0" y="0"/>
          <a:chExt cx="0" cy="0"/>
        </a:xfrm>
      </p:grpSpPr>
      <p:sp>
        <p:nvSpPr>
          <p:cNvPr id="2" name="TextBox 2"/>
          <p:cNvSpPr txBox="1"/>
          <p:nvPr/>
        </p:nvSpPr>
        <p:spPr>
          <a:xfrm>
            <a:off x="1600200" y="800100"/>
            <a:ext cx="15849600" cy="8439875"/>
          </a:xfrm>
          <a:prstGeom prst="rect">
            <a:avLst/>
          </a:prstGeom>
        </p:spPr>
        <p:txBody>
          <a:bodyPr wrap="square" lIns="0" tIns="0" rIns="0" bIns="0" rtlCol="0" anchor="t">
            <a:spAutoFit/>
          </a:bodyPr>
          <a:lstStyle/>
          <a:p>
            <a:pPr algn="ctr">
              <a:lnSpc>
                <a:spcPts val="8709"/>
              </a:lnSpc>
              <a:spcBef>
                <a:spcPct val="0"/>
              </a:spcBef>
            </a:pPr>
            <a:r>
              <a:rPr lang="en-US" sz="8000" b="1" dirty="0">
                <a:ln w="6600">
                  <a:solidFill>
                    <a:srgbClr val="FFFF00"/>
                  </a:solidFill>
                  <a:prstDash val="solid"/>
                </a:ln>
                <a:solidFill>
                  <a:srgbClr val="C00000"/>
                </a:solidFill>
                <a:effectLst>
                  <a:outerShdw dist="38100" dir="2700000" algn="tl" rotWithShape="0">
                    <a:schemeClr val="accent2"/>
                  </a:outerShdw>
                </a:effectLst>
                <a:latin typeface="Brought" charset="0"/>
                <a:ea typeface="Brought"/>
                <a:cs typeface="Brought"/>
                <a:sym typeface="Brought"/>
              </a:rPr>
              <a:t>criteria</a:t>
            </a:r>
          </a:p>
          <a:p>
            <a:pPr>
              <a:lnSpc>
                <a:spcPct val="150000"/>
              </a:lnSpc>
              <a:spcBef>
                <a:spcPct val="0"/>
              </a:spcBef>
            </a:pPr>
            <a:r>
              <a:rPr lang="en-PH" sz="5400" b="1" dirty="0">
                <a:solidFill>
                  <a:schemeClr val="bg1"/>
                </a:solidFill>
              </a:rPr>
              <a:t>Creativity and Originality-20%</a:t>
            </a:r>
          </a:p>
          <a:p>
            <a:pPr>
              <a:lnSpc>
                <a:spcPct val="150000"/>
              </a:lnSpc>
              <a:spcBef>
                <a:spcPct val="0"/>
              </a:spcBef>
            </a:pPr>
            <a:r>
              <a:rPr lang="en-PH" sz="5400" b="1" dirty="0">
                <a:solidFill>
                  <a:schemeClr val="bg1"/>
                </a:solidFill>
              </a:rPr>
              <a:t>Clarity of Message- 20%</a:t>
            </a:r>
          </a:p>
          <a:p>
            <a:pPr>
              <a:lnSpc>
                <a:spcPct val="150000"/>
              </a:lnSpc>
              <a:spcBef>
                <a:spcPct val="0"/>
              </a:spcBef>
            </a:pPr>
            <a:r>
              <a:rPr lang="en-PH" sz="5400" b="1" dirty="0">
                <a:solidFill>
                  <a:schemeClr val="bg1"/>
                </a:solidFill>
              </a:rPr>
              <a:t>Visual Appeal and Design- 20%</a:t>
            </a:r>
          </a:p>
          <a:p>
            <a:pPr>
              <a:lnSpc>
                <a:spcPct val="150000"/>
              </a:lnSpc>
              <a:spcBef>
                <a:spcPct val="0"/>
              </a:spcBef>
            </a:pPr>
            <a:r>
              <a:rPr lang="en-PH" sz="5400" b="1" dirty="0">
                <a:solidFill>
                  <a:schemeClr val="bg1"/>
                </a:solidFill>
              </a:rPr>
              <a:t>Accuracy and Relevance- 20%</a:t>
            </a:r>
          </a:p>
          <a:p>
            <a:pPr>
              <a:lnSpc>
                <a:spcPct val="150000"/>
              </a:lnSpc>
              <a:spcBef>
                <a:spcPct val="0"/>
              </a:spcBef>
            </a:pPr>
            <a:r>
              <a:rPr lang="en-PH" sz="5400" b="1" dirty="0">
                <a:solidFill>
                  <a:schemeClr val="bg1"/>
                </a:solidFill>
              </a:rPr>
              <a:t>Presentation and Explanation- 20%</a:t>
            </a:r>
          </a:p>
          <a:p>
            <a:pPr>
              <a:lnSpc>
                <a:spcPct val="150000"/>
              </a:lnSpc>
              <a:spcBef>
                <a:spcPct val="0"/>
              </a:spcBef>
            </a:pPr>
            <a:r>
              <a:rPr lang="en-PH" sz="5400" b="1" spc="223" dirty="0">
                <a:solidFill>
                  <a:schemeClr val="bg1"/>
                </a:solidFill>
                <a:latin typeface="Biome" panose="020B0502040204020203" pitchFamily="34" charset="0"/>
                <a:ea typeface="Brought"/>
                <a:cs typeface="Biome" panose="020B0502040204020203" pitchFamily="34" charset="0"/>
                <a:sym typeface="Brought"/>
              </a:rPr>
              <a:t>TOTAL- 100 %</a:t>
            </a:r>
            <a:endParaRPr lang="en-US" sz="3200" b="1" spc="223" dirty="0">
              <a:solidFill>
                <a:schemeClr val="bg1"/>
              </a:solidFill>
              <a:latin typeface="Biome" panose="020B0502040204020203" pitchFamily="34" charset="0"/>
              <a:ea typeface="Brought"/>
              <a:cs typeface="Biome" panose="020B0502040204020203" pitchFamily="34" charset="0"/>
              <a:sym typeface="Brou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5D4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0D99BF-9C0B-AECA-41AE-998F5182E62B}"/>
              </a:ext>
            </a:extLst>
          </p:cNvPr>
          <p:cNvSpPr txBox="1"/>
          <p:nvPr/>
        </p:nvSpPr>
        <p:spPr>
          <a:xfrm>
            <a:off x="609600" y="495300"/>
            <a:ext cx="17068800" cy="9602629"/>
          </a:xfrm>
          <a:prstGeom prst="rect">
            <a:avLst/>
          </a:prstGeom>
          <a:noFill/>
        </p:spPr>
        <p:txBody>
          <a:bodyPr wrap="square" rtlCol="0">
            <a:spAutoFit/>
          </a:bodyPr>
          <a:lstStyle/>
          <a:p>
            <a:pPr>
              <a:buNone/>
            </a:pPr>
            <a:r>
              <a:rPr lang="en-US" sz="4000" b="1" dirty="0"/>
              <a:t>🌍 </a:t>
            </a:r>
            <a:r>
              <a:rPr lang="en-US" sz="4000" b="1" dirty="0">
                <a:ln w="22225">
                  <a:solidFill>
                    <a:srgbClr val="FF0000"/>
                  </a:solidFill>
                  <a:prstDash val="solid"/>
                </a:ln>
                <a:solidFill>
                  <a:srgbClr val="FFC000"/>
                </a:solidFill>
              </a:rPr>
              <a:t>Definition of Inequality</a:t>
            </a:r>
          </a:p>
          <a:p>
            <a:pPr>
              <a:buNone/>
            </a:pPr>
            <a:r>
              <a:rPr lang="en-US" sz="4000" b="1" dirty="0">
                <a:solidFill>
                  <a:schemeClr val="bg1"/>
                </a:solidFill>
              </a:rPr>
              <a:t>Inequality refers to the uneven distribution of resources, opportunities, and rights among individuals or groups. It can exist in various forms, including:</a:t>
            </a:r>
          </a:p>
          <a:p>
            <a:pPr>
              <a:buFont typeface="Arial" panose="020B0604020202020204" pitchFamily="34" charset="0"/>
              <a:buChar char="•"/>
            </a:pPr>
            <a:r>
              <a:rPr lang="en-US" sz="4000" b="1" dirty="0">
                <a:ln w="22225">
                  <a:solidFill>
                    <a:schemeClr val="accent2"/>
                  </a:solidFill>
                  <a:prstDash val="solid"/>
                </a:ln>
                <a:solidFill>
                  <a:schemeClr val="accent2">
                    <a:lumMod val="40000"/>
                    <a:lumOff val="60000"/>
                  </a:schemeClr>
                </a:solidFill>
              </a:rPr>
              <a:t>Economic Inequality</a:t>
            </a:r>
            <a:r>
              <a:rPr lang="en-US" sz="4000" b="1" dirty="0">
                <a:solidFill>
                  <a:schemeClr val="bg1"/>
                </a:solidFill>
              </a:rPr>
              <a:t>: Differences in income, wealth, and access to financial resources.</a:t>
            </a:r>
          </a:p>
          <a:p>
            <a:pPr>
              <a:buFont typeface="Arial" panose="020B0604020202020204" pitchFamily="34" charset="0"/>
              <a:buChar char="•"/>
            </a:pPr>
            <a:r>
              <a:rPr lang="en-US" sz="4000" b="1" dirty="0">
                <a:ln w="22225">
                  <a:solidFill>
                    <a:schemeClr val="accent2"/>
                  </a:solidFill>
                  <a:prstDash val="solid"/>
                </a:ln>
                <a:solidFill>
                  <a:schemeClr val="accent2">
                    <a:lumMod val="40000"/>
                    <a:lumOff val="60000"/>
                  </a:schemeClr>
                </a:solidFill>
              </a:rPr>
              <a:t>Educational Inequality</a:t>
            </a:r>
            <a:r>
              <a:rPr lang="en-US" sz="4000" b="1" dirty="0">
                <a:solidFill>
                  <a:schemeClr val="bg1"/>
                </a:solidFill>
              </a:rPr>
              <a:t>: Disparities in access to quality education, school facilities, and learning opportunities.</a:t>
            </a:r>
          </a:p>
          <a:p>
            <a:pPr>
              <a:buFont typeface="Arial" panose="020B0604020202020204" pitchFamily="34" charset="0"/>
              <a:buChar char="•"/>
            </a:pPr>
            <a:r>
              <a:rPr lang="en-US" sz="4000" b="1" dirty="0">
                <a:ln w="22225">
                  <a:solidFill>
                    <a:schemeClr val="accent2"/>
                  </a:solidFill>
                  <a:prstDash val="solid"/>
                </a:ln>
                <a:solidFill>
                  <a:schemeClr val="accent2">
                    <a:lumMod val="40000"/>
                    <a:lumOff val="60000"/>
                  </a:schemeClr>
                </a:solidFill>
              </a:rPr>
              <a:t>Healthcare Inequality</a:t>
            </a:r>
            <a:r>
              <a:rPr lang="en-US" sz="4000" b="1" dirty="0">
                <a:solidFill>
                  <a:schemeClr val="bg1"/>
                </a:solidFill>
              </a:rPr>
              <a:t>: Unequal access to medical services, treatment, and overall health outcomes.</a:t>
            </a:r>
          </a:p>
          <a:p>
            <a:pPr>
              <a:buFont typeface="Arial" panose="020B0604020202020204" pitchFamily="34" charset="0"/>
              <a:buChar char="•"/>
            </a:pPr>
            <a:r>
              <a:rPr lang="en-US" sz="4000" b="1" dirty="0">
                <a:ln w="22225">
                  <a:solidFill>
                    <a:schemeClr val="accent2"/>
                  </a:solidFill>
                  <a:prstDash val="solid"/>
                </a:ln>
                <a:solidFill>
                  <a:schemeClr val="accent2">
                    <a:lumMod val="40000"/>
                    <a:lumOff val="60000"/>
                  </a:schemeClr>
                </a:solidFill>
              </a:rPr>
              <a:t>Political Inequality</a:t>
            </a:r>
            <a:r>
              <a:rPr lang="en-US" sz="4000" b="1" dirty="0">
                <a:solidFill>
                  <a:schemeClr val="bg1"/>
                </a:solidFill>
              </a:rPr>
              <a:t>: Imbalances in representation, participation, and influence in political decision-making.</a:t>
            </a:r>
          </a:p>
          <a:p>
            <a:pPr>
              <a:buFont typeface="Arial" panose="020B0604020202020204" pitchFamily="34" charset="0"/>
              <a:buChar char="•"/>
            </a:pPr>
            <a:r>
              <a:rPr lang="en-US" sz="4000" b="1" dirty="0">
                <a:ln w="22225">
                  <a:solidFill>
                    <a:schemeClr val="accent2"/>
                  </a:solidFill>
                  <a:prstDash val="solid"/>
                </a:ln>
                <a:solidFill>
                  <a:schemeClr val="accent2">
                    <a:lumMod val="40000"/>
                    <a:lumOff val="60000"/>
                  </a:schemeClr>
                </a:solidFill>
              </a:rPr>
              <a:t>Social Inequality</a:t>
            </a:r>
            <a:r>
              <a:rPr lang="en-US" sz="4000" b="1" dirty="0">
                <a:solidFill>
                  <a:schemeClr val="bg1"/>
                </a:solidFill>
              </a:rPr>
              <a:t>: Discrimination or unequal treatment based on factors such as race, gender, class, or religion.</a:t>
            </a:r>
          </a:p>
          <a:p>
            <a:r>
              <a:rPr lang="en-US" sz="4000" b="1" spc="50" dirty="0">
                <a:ln w="9525" cmpd="sng">
                  <a:solidFill>
                    <a:schemeClr val="accent1"/>
                  </a:solidFill>
                  <a:prstDash val="solid"/>
                </a:ln>
                <a:solidFill>
                  <a:srgbClr val="70AD47">
                    <a:tint val="1000"/>
                  </a:srgbClr>
                </a:solidFill>
                <a:effectLst>
                  <a:glow rad="38100">
                    <a:schemeClr val="accent1">
                      <a:alpha val="40000"/>
                    </a:schemeClr>
                  </a:glow>
                </a:effectLst>
              </a:rPr>
              <a:t>Inequality often results in injustice and limited opportunities for certain groups, creating barriers to social and economic mobility.</a:t>
            </a:r>
          </a:p>
          <a:p>
            <a:endParaRPr lang="en-PH"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Freeform 2"/>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p:cNvSpPr txBox="1"/>
          <p:nvPr/>
        </p:nvSpPr>
        <p:spPr>
          <a:xfrm>
            <a:off x="1583915" y="3141682"/>
            <a:ext cx="15120169" cy="3482492"/>
          </a:xfrm>
          <a:prstGeom prst="rect">
            <a:avLst/>
          </a:prstGeom>
        </p:spPr>
        <p:txBody>
          <a:bodyPr lIns="0" tIns="0" rIns="0" bIns="0" rtlCol="0" anchor="t">
            <a:spAutoFit/>
          </a:bodyPr>
          <a:lstStyle/>
          <a:p>
            <a:pPr algn="ctr">
              <a:lnSpc>
                <a:spcPts val="9000"/>
              </a:lnSpc>
            </a:pPr>
            <a:r>
              <a:rPr lang="en-US" sz="96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90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3" name="Freeform 3"/>
          <p:cNvSpPr/>
          <p:nvPr/>
        </p:nvSpPr>
        <p:spPr>
          <a:xfrm rot="-8644098">
            <a:off x="-333408" y="6356492"/>
            <a:ext cx="6292830" cy="2934854"/>
          </a:xfrm>
          <a:custGeom>
            <a:avLst/>
            <a:gdLst/>
            <a:ahLst/>
            <a:cxnLst/>
            <a:rect l="l" t="t" r="r" b="b"/>
            <a:pathLst>
              <a:path w="9524130" h="7757837">
                <a:moveTo>
                  <a:pt x="0" y="0"/>
                </a:moveTo>
                <a:lnTo>
                  <a:pt x="9524130" y="0"/>
                </a:lnTo>
                <a:lnTo>
                  <a:pt x="9524130" y="7757837"/>
                </a:lnTo>
                <a:lnTo>
                  <a:pt x="0" y="775783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4" name="Freeform 4"/>
          <p:cNvSpPr/>
          <p:nvPr/>
        </p:nvSpPr>
        <p:spPr>
          <a:xfrm>
            <a:off x="10698468" y="5143500"/>
            <a:ext cx="8408694" cy="7200900"/>
          </a:xfrm>
          <a:custGeom>
            <a:avLst/>
            <a:gdLst/>
            <a:ahLst/>
            <a:cxnLst/>
            <a:rect l="l" t="t" r="r" b="b"/>
            <a:pathLst>
              <a:path w="8408694" h="7200900">
                <a:moveTo>
                  <a:pt x="0" y="0"/>
                </a:moveTo>
                <a:lnTo>
                  <a:pt x="8408694" y="0"/>
                </a:lnTo>
                <a:lnTo>
                  <a:pt x="8408694"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grpSp>
        <p:nvGrpSpPr>
          <p:cNvPr id="5" name="Group 5"/>
          <p:cNvGrpSpPr/>
          <p:nvPr/>
        </p:nvGrpSpPr>
        <p:grpSpPr>
          <a:xfrm>
            <a:off x="762000" y="3505113"/>
            <a:ext cx="16386136" cy="6263557"/>
            <a:chOff x="0" y="0"/>
            <a:chExt cx="4315690" cy="1649661"/>
          </a:xfrm>
        </p:grpSpPr>
        <p:sp>
          <p:nvSpPr>
            <p:cNvPr id="6" name="Freeform 6"/>
            <p:cNvSpPr/>
            <p:nvPr/>
          </p:nvSpPr>
          <p:spPr>
            <a:xfrm>
              <a:off x="0" y="0"/>
              <a:ext cx="4315690" cy="1649661"/>
            </a:xfrm>
            <a:custGeom>
              <a:avLst/>
              <a:gdLst/>
              <a:ahLst/>
              <a:cxnLst/>
              <a:rect l="l" t="t" r="r" b="b"/>
              <a:pathLst>
                <a:path w="4315690" h="1649661">
                  <a:moveTo>
                    <a:pt x="14174" y="0"/>
                  </a:moveTo>
                  <a:lnTo>
                    <a:pt x="4301517" y="0"/>
                  </a:lnTo>
                  <a:cubicBezTo>
                    <a:pt x="4305276" y="0"/>
                    <a:pt x="4308881" y="1493"/>
                    <a:pt x="4311539" y="4151"/>
                  </a:cubicBezTo>
                  <a:cubicBezTo>
                    <a:pt x="4314197" y="6810"/>
                    <a:pt x="4315690" y="10415"/>
                    <a:pt x="4315690" y="14174"/>
                  </a:cubicBezTo>
                  <a:lnTo>
                    <a:pt x="4315690" y="1635487"/>
                  </a:lnTo>
                  <a:cubicBezTo>
                    <a:pt x="4315690" y="1639246"/>
                    <a:pt x="4314197" y="1642851"/>
                    <a:pt x="4311539" y="1645510"/>
                  </a:cubicBezTo>
                  <a:cubicBezTo>
                    <a:pt x="4308881" y="1648168"/>
                    <a:pt x="4305276" y="1649661"/>
                    <a:pt x="4301517" y="1649661"/>
                  </a:cubicBezTo>
                  <a:lnTo>
                    <a:pt x="14174" y="1649661"/>
                  </a:lnTo>
                  <a:cubicBezTo>
                    <a:pt x="10415" y="1649661"/>
                    <a:pt x="6810" y="1648168"/>
                    <a:pt x="4151" y="1645510"/>
                  </a:cubicBezTo>
                  <a:cubicBezTo>
                    <a:pt x="1493" y="1642851"/>
                    <a:pt x="0" y="1639246"/>
                    <a:pt x="0" y="1635487"/>
                  </a:cubicBezTo>
                  <a:lnTo>
                    <a:pt x="0" y="14174"/>
                  </a:lnTo>
                  <a:cubicBezTo>
                    <a:pt x="0" y="10415"/>
                    <a:pt x="1493" y="6810"/>
                    <a:pt x="4151" y="4151"/>
                  </a:cubicBezTo>
                  <a:cubicBezTo>
                    <a:pt x="6810" y="1493"/>
                    <a:pt x="10415" y="0"/>
                    <a:pt x="14174" y="0"/>
                  </a:cubicBezTo>
                  <a:close/>
                </a:path>
              </a:pathLst>
            </a:custGeom>
            <a:solidFill>
              <a:srgbClr val="FFFFFF"/>
            </a:solidFill>
          </p:spPr>
          <p:txBody>
            <a:bodyPr/>
            <a:lstStyle/>
            <a:p>
              <a:endParaRPr lang="en-PH"/>
            </a:p>
          </p:txBody>
        </p:sp>
        <p:sp>
          <p:nvSpPr>
            <p:cNvPr id="7" name="TextBox 7"/>
            <p:cNvSpPr txBox="1"/>
            <p:nvPr/>
          </p:nvSpPr>
          <p:spPr>
            <a:xfrm>
              <a:off x="0" y="-38100"/>
              <a:ext cx="4315690" cy="168776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723756" y="286494"/>
            <a:ext cx="13130998" cy="2128788"/>
          </a:xfrm>
          <a:prstGeom prst="rect">
            <a:avLst/>
          </a:prstGeom>
        </p:spPr>
        <p:txBody>
          <a:bodyPr lIns="0" tIns="0" rIns="0" bIns="0" rtlCol="0" anchor="t">
            <a:spAutoFit/>
          </a:bodyPr>
          <a:lstStyle/>
          <a:p>
            <a:pPr marL="0" lvl="0" indent="0" algn="ctr">
              <a:lnSpc>
                <a:spcPts val="8280"/>
              </a:lnSpc>
            </a:pPr>
            <a:r>
              <a:rPr lang="en-US" sz="72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6900" b="1" u="none" strike="noStrike"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
        <p:nvSpPr>
          <p:cNvPr id="13" name="Freeform 13"/>
          <p:cNvSpPr/>
          <p:nvPr/>
        </p:nvSpPr>
        <p:spPr>
          <a:xfrm>
            <a:off x="16184983" y="2213496"/>
            <a:ext cx="562277" cy="562277"/>
          </a:xfrm>
          <a:custGeom>
            <a:avLst/>
            <a:gdLst/>
            <a:ahLst/>
            <a:cxnLst/>
            <a:rect l="l" t="t" r="r" b="b"/>
            <a:pathLst>
              <a:path w="562277" h="562277">
                <a:moveTo>
                  <a:pt x="0" y="0"/>
                </a:moveTo>
                <a:lnTo>
                  <a:pt x="562276" y="0"/>
                </a:lnTo>
                <a:lnTo>
                  <a:pt x="562276" y="562277"/>
                </a:lnTo>
                <a:lnTo>
                  <a:pt x="0" y="56227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4" name="Freeform 14"/>
          <p:cNvSpPr/>
          <p:nvPr/>
        </p:nvSpPr>
        <p:spPr>
          <a:xfrm>
            <a:off x="2273791" y="2637950"/>
            <a:ext cx="215528" cy="215528"/>
          </a:xfrm>
          <a:custGeom>
            <a:avLst/>
            <a:gdLst/>
            <a:ahLst/>
            <a:cxnLst/>
            <a:rect l="l" t="t" r="r" b="b"/>
            <a:pathLst>
              <a:path w="215528" h="215528">
                <a:moveTo>
                  <a:pt x="0" y="0"/>
                </a:moveTo>
                <a:lnTo>
                  <a:pt x="215527" y="0"/>
                </a:lnTo>
                <a:lnTo>
                  <a:pt x="215527" y="215528"/>
                </a:lnTo>
                <a:lnTo>
                  <a:pt x="0" y="2155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5" name="Freeform 15"/>
          <p:cNvSpPr/>
          <p:nvPr/>
        </p:nvSpPr>
        <p:spPr>
          <a:xfrm>
            <a:off x="17367064" y="2745714"/>
            <a:ext cx="346749" cy="346749"/>
          </a:xfrm>
          <a:custGeom>
            <a:avLst/>
            <a:gdLst/>
            <a:ahLst/>
            <a:cxnLst/>
            <a:rect l="l" t="t" r="r" b="b"/>
            <a:pathLst>
              <a:path w="346749" h="346749">
                <a:moveTo>
                  <a:pt x="0" y="0"/>
                </a:moveTo>
                <a:lnTo>
                  <a:pt x="346749" y="0"/>
                </a:lnTo>
                <a:lnTo>
                  <a:pt x="346749" y="346749"/>
                </a:lnTo>
                <a:lnTo>
                  <a:pt x="0" y="34674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6" name="TextBox 16"/>
          <p:cNvSpPr txBox="1"/>
          <p:nvPr/>
        </p:nvSpPr>
        <p:spPr>
          <a:xfrm>
            <a:off x="1711113" y="3682236"/>
            <a:ext cx="15156283" cy="5909310"/>
          </a:xfrm>
          <a:prstGeom prst="rect">
            <a:avLst/>
          </a:prstGeom>
        </p:spPr>
        <p:txBody>
          <a:bodyPr lIns="0" tIns="0" rIns="0" bIns="0" rtlCol="0" anchor="t">
            <a:spAutoFit/>
          </a:bodyPr>
          <a:lstStyle/>
          <a:p>
            <a:pPr>
              <a:buNone/>
            </a:pPr>
            <a:r>
              <a:rPr lang="en-US" sz="4800" b="1" dirty="0"/>
              <a:t>Wealth Disparity Between Nations</a:t>
            </a:r>
            <a:endParaRPr lang="en-US" sz="4800" dirty="0"/>
          </a:p>
          <a:p>
            <a:pPr>
              <a:buFont typeface="Arial" panose="020B0604020202020204" pitchFamily="34" charset="0"/>
              <a:buChar char="•"/>
            </a:pPr>
            <a:r>
              <a:rPr lang="en-US" sz="4800" dirty="0"/>
              <a:t>The </a:t>
            </a:r>
            <a:r>
              <a:rPr lang="en-US" sz="4800" b="1" dirty="0"/>
              <a:t>Global North</a:t>
            </a:r>
            <a:r>
              <a:rPr lang="en-US" sz="4800" dirty="0"/>
              <a:t> (e.g., the US, Germany, and Japan) holds the majority of the world’s wealth, while many </a:t>
            </a:r>
            <a:r>
              <a:rPr lang="en-US" sz="4800" b="1" dirty="0"/>
              <a:t>Global South</a:t>
            </a:r>
            <a:r>
              <a:rPr lang="en-US" sz="4800" dirty="0"/>
              <a:t> countries (e.g., in Sub-Saharan Africa and South Asia) struggle with poverty and underdevelopment.</a:t>
            </a:r>
          </a:p>
          <a:p>
            <a:pPr>
              <a:buFont typeface="Arial" panose="020B0604020202020204" pitchFamily="34" charset="0"/>
              <a:buChar char="•"/>
            </a:pPr>
            <a:r>
              <a:rPr lang="en-US" sz="4800" dirty="0"/>
              <a:t>According to reports, the </a:t>
            </a:r>
            <a:r>
              <a:rPr lang="en-US" sz="4800" b="1" dirty="0"/>
              <a:t>richest 1%</a:t>
            </a:r>
            <a:r>
              <a:rPr lang="en-US" sz="4800" dirty="0"/>
              <a:t> of the world's population owns nearly </a:t>
            </a:r>
            <a:r>
              <a:rPr lang="en-US" sz="4800" b="1" dirty="0"/>
              <a:t>half of global wealth</a:t>
            </a:r>
            <a:r>
              <a:rPr lang="en-US" sz="4800" dirty="0"/>
              <a:t>, while billions of people live on less than $5.50 a 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C8F1316F-D816-1E6D-0EC5-3736DE53B43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DF96BC3-4D4C-975A-4BC8-55C14A6EB662}"/>
              </a:ext>
            </a:extLst>
          </p:cNvPr>
          <p:cNvSpPr/>
          <p:nvPr/>
        </p:nvSpPr>
        <p:spPr>
          <a:xfrm rot="-8644098">
            <a:off x="-333408" y="6356492"/>
            <a:ext cx="6292830" cy="2934854"/>
          </a:xfrm>
          <a:custGeom>
            <a:avLst/>
            <a:gdLst/>
            <a:ahLst/>
            <a:cxnLst/>
            <a:rect l="l" t="t" r="r" b="b"/>
            <a:pathLst>
              <a:path w="9524130" h="7757837">
                <a:moveTo>
                  <a:pt x="0" y="0"/>
                </a:moveTo>
                <a:lnTo>
                  <a:pt x="9524130" y="0"/>
                </a:lnTo>
                <a:lnTo>
                  <a:pt x="9524130" y="7757837"/>
                </a:lnTo>
                <a:lnTo>
                  <a:pt x="0" y="775783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4" name="Freeform 4">
            <a:extLst>
              <a:ext uri="{FF2B5EF4-FFF2-40B4-BE49-F238E27FC236}">
                <a16:creationId xmlns:a16="http://schemas.microsoft.com/office/drawing/2014/main" id="{75BD55E6-5702-1986-DE9A-FA8CF7C20444}"/>
              </a:ext>
            </a:extLst>
          </p:cNvPr>
          <p:cNvSpPr/>
          <p:nvPr/>
        </p:nvSpPr>
        <p:spPr>
          <a:xfrm>
            <a:off x="10698468" y="5143500"/>
            <a:ext cx="8408694" cy="7200900"/>
          </a:xfrm>
          <a:custGeom>
            <a:avLst/>
            <a:gdLst/>
            <a:ahLst/>
            <a:cxnLst/>
            <a:rect l="l" t="t" r="r" b="b"/>
            <a:pathLst>
              <a:path w="8408694" h="7200900">
                <a:moveTo>
                  <a:pt x="0" y="0"/>
                </a:moveTo>
                <a:lnTo>
                  <a:pt x="8408694" y="0"/>
                </a:lnTo>
                <a:lnTo>
                  <a:pt x="8408694"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grpSp>
        <p:nvGrpSpPr>
          <p:cNvPr id="5" name="Group 5">
            <a:extLst>
              <a:ext uri="{FF2B5EF4-FFF2-40B4-BE49-F238E27FC236}">
                <a16:creationId xmlns:a16="http://schemas.microsoft.com/office/drawing/2014/main" id="{B61DD99D-0EC8-9E17-B455-BDE5EE7C40BB}"/>
              </a:ext>
            </a:extLst>
          </p:cNvPr>
          <p:cNvGrpSpPr/>
          <p:nvPr/>
        </p:nvGrpSpPr>
        <p:grpSpPr>
          <a:xfrm>
            <a:off x="948271" y="2853478"/>
            <a:ext cx="16386136" cy="7022956"/>
            <a:chOff x="0" y="0"/>
            <a:chExt cx="4315690" cy="1649661"/>
          </a:xfrm>
        </p:grpSpPr>
        <p:sp>
          <p:nvSpPr>
            <p:cNvPr id="6" name="Freeform 6">
              <a:extLst>
                <a:ext uri="{FF2B5EF4-FFF2-40B4-BE49-F238E27FC236}">
                  <a16:creationId xmlns:a16="http://schemas.microsoft.com/office/drawing/2014/main" id="{7E53FFE4-90FA-D916-7E55-4C541CAB18EA}"/>
                </a:ext>
              </a:extLst>
            </p:cNvPr>
            <p:cNvSpPr/>
            <p:nvPr/>
          </p:nvSpPr>
          <p:spPr>
            <a:xfrm>
              <a:off x="0" y="0"/>
              <a:ext cx="4315690" cy="1649661"/>
            </a:xfrm>
            <a:custGeom>
              <a:avLst/>
              <a:gdLst/>
              <a:ahLst/>
              <a:cxnLst/>
              <a:rect l="l" t="t" r="r" b="b"/>
              <a:pathLst>
                <a:path w="4315690" h="1649661">
                  <a:moveTo>
                    <a:pt x="14174" y="0"/>
                  </a:moveTo>
                  <a:lnTo>
                    <a:pt x="4301517" y="0"/>
                  </a:lnTo>
                  <a:cubicBezTo>
                    <a:pt x="4305276" y="0"/>
                    <a:pt x="4308881" y="1493"/>
                    <a:pt x="4311539" y="4151"/>
                  </a:cubicBezTo>
                  <a:cubicBezTo>
                    <a:pt x="4314197" y="6810"/>
                    <a:pt x="4315690" y="10415"/>
                    <a:pt x="4315690" y="14174"/>
                  </a:cubicBezTo>
                  <a:lnTo>
                    <a:pt x="4315690" y="1635487"/>
                  </a:lnTo>
                  <a:cubicBezTo>
                    <a:pt x="4315690" y="1639246"/>
                    <a:pt x="4314197" y="1642851"/>
                    <a:pt x="4311539" y="1645510"/>
                  </a:cubicBezTo>
                  <a:cubicBezTo>
                    <a:pt x="4308881" y="1648168"/>
                    <a:pt x="4305276" y="1649661"/>
                    <a:pt x="4301517" y="1649661"/>
                  </a:cubicBezTo>
                  <a:lnTo>
                    <a:pt x="14174" y="1649661"/>
                  </a:lnTo>
                  <a:cubicBezTo>
                    <a:pt x="10415" y="1649661"/>
                    <a:pt x="6810" y="1648168"/>
                    <a:pt x="4151" y="1645510"/>
                  </a:cubicBezTo>
                  <a:cubicBezTo>
                    <a:pt x="1493" y="1642851"/>
                    <a:pt x="0" y="1639246"/>
                    <a:pt x="0" y="1635487"/>
                  </a:cubicBezTo>
                  <a:lnTo>
                    <a:pt x="0" y="14174"/>
                  </a:lnTo>
                  <a:cubicBezTo>
                    <a:pt x="0" y="10415"/>
                    <a:pt x="1493" y="6810"/>
                    <a:pt x="4151" y="4151"/>
                  </a:cubicBezTo>
                  <a:cubicBezTo>
                    <a:pt x="6810" y="1493"/>
                    <a:pt x="10415" y="0"/>
                    <a:pt x="14174"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FE5B112E-4D4F-2176-7D80-70085D83C19C}"/>
                </a:ext>
              </a:extLst>
            </p:cNvPr>
            <p:cNvSpPr txBox="1"/>
            <p:nvPr/>
          </p:nvSpPr>
          <p:spPr>
            <a:xfrm>
              <a:off x="0" y="-38100"/>
              <a:ext cx="4315690" cy="1687761"/>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C05D8099-B88D-8D68-C744-76EBA0EA2D99}"/>
              </a:ext>
            </a:extLst>
          </p:cNvPr>
          <p:cNvSpPr txBox="1"/>
          <p:nvPr/>
        </p:nvSpPr>
        <p:spPr>
          <a:xfrm>
            <a:off x="2723756" y="286494"/>
            <a:ext cx="13130998" cy="2128788"/>
          </a:xfrm>
          <a:prstGeom prst="rect">
            <a:avLst/>
          </a:prstGeom>
        </p:spPr>
        <p:txBody>
          <a:bodyPr lIns="0" tIns="0" rIns="0" bIns="0" rtlCol="0" anchor="t">
            <a:spAutoFit/>
          </a:bodyPr>
          <a:lstStyle/>
          <a:p>
            <a:pPr marL="0" lvl="0" indent="0" algn="ctr">
              <a:lnSpc>
                <a:spcPts val="8280"/>
              </a:lnSpc>
            </a:pPr>
            <a:r>
              <a:rPr lang="en-US" sz="72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6900" b="1" u="none" strike="noStrike"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
        <p:nvSpPr>
          <p:cNvPr id="13" name="Freeform 13">
            <a:extLst>
              <a:ext uri="{FF2B5EF4-FFF2-40B4-BE49-F238E27FC236}">
                <a16:creationId xmlns:a16="http://schemas.microsoft.com/office/drawing/2014/main" id="{EE3BD3A0-4D45-7F7A-E848-C7811A899FC4}"/>
              </a:ext>
            </a:extLst>
          </p:cNvPr>
          <p:cNvSpPr/>
          <p:nvPr/>
        </p:nvSpPr>
        <p:spPr>
          <a:xfrm>
            <a:off x="16184983" y="2213496"/>
            <a:ext cx="562277" cy="562277"/>
          </a:xfrm>
          <a:custGeom>
            <a:avLst/>
            <a:gdLst/>
            <a:ahLst/>
            <a:cxnLst/>
            <a:rect l="l" t="t" r="r" b="b"/>
            <a:pathLst>
              <a:path w="562277" h="562277">
                <a:moveTo>
                  <a:pt x="0" y="0"/>
                </a:moveTo>
                <a:lnTo>
                  <a:pt x="562276" y="0"/>
                </a:lnTo>
                <a:lnTo>
                  <a:pt x="562276" y="562277"/>
                </a:lnTo>
                <a:lnTo>
                  <a:pt x="0" y="56227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CE0C7D9C-A035-2892-BE09-99F03204CED7}"/>
              </a:ext>
            </a:extLst>
          </p:cNvPr>
          <p:cNvSpPr/>
          <p:nvPr/>
        </p:nvSpPr>
        <p:spPr>
          <a:xfrm>
            <a:off x="2273791" y="2637950"/>
            <a:ext cx="215528" cy="215528"/>
          </a:xfrm>
          <a:custGeom>
            <a:avLst/>
            <a:gdLst/>
            <a:ahLst/>
            <a:cxnLst/>
            <a:rect l="l" t="t" r="r" b="b"/>
            <a:pathLst>
              <a:path w="215528" h="215528">
                <a:moveTo>
                  <a:pt x="0" y="0"/>
                </a:moveTo>
                <a:lnTo>
                  <a:pt x="215527" y="0"/>
                </a:lnTo>
                <a:lnTo>
                  <a:pt x="215527" y="215528"/>
                </a:lnTo>
                <a:lnTo>
                  <a:pt x="0" y="2155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A7E52D93-F51A-7CA4-A8D6-8F8155E5DE51}"/>
              </a:ext>
            </a:extLst>
          </p:cNvPr>
          <p:cNvSpPr/>
          <p:nvPr/>
        </p:nvSpPr>
        <p:spPr>
          <a:xfrm>
            <a:off x="17367064" y="2745714"/>
            <a:ext cx="346749" cy="346749"/>
          </a:xfrm>
          <a:custGeom>
            <a:avLst/>
            <a:gdLst/>
            <a:ahLst/>
            <a:cxnLst/>
            <a:rect l="l" t="t" r="r" b="b"/>
            <a:pathLst>
              <a:path w="346749" h="346749">
                <a:moveTo>
                  <a:pt x="0" y="0"/>
                </a:moveTo>
                <a:lnTo>
                  <a:pt x="346749" y="0"/>
                </a:lnTo>
                <a:lnTo>
                  <a:pt x="346749" y="346749"/>
                </a:lnTo>
                <a:lnTo>
                  <a:pt x="0" y="34674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6" name="TextBox 16">
            <a:extLst>
              <a:ext uri="{FF2B5EF4-FFF2-40B4-BE49-F238E27FC236}">
                <a16:creationId xmlns:a16="http://schemas.microsoft.com/office/drawing/2014/main" id="{69AE22AE-E3DF-1801-783A-D4E2877E3B5C}"/>
              </a:ext>
            </a:extLst>
          </p:cNvPr>
          <p:cNvSpPr txBox="1"/>
          <p:nvPr/>
        </p:nvSpPr>
        <p:spPr>
          <a:xfrm>
            <a:off x="1552877" y="3040969"/>
            <a:ext cx="15156283" cy="6647974"/>
          </a:xfrm>
          <a:prstGeom prst="rect">
            <a:avLst/>
          </a:prstGeom>
        </p:spPr>
        <p:txBody>
          <a:bodyPr lIns="0" tIns="0" rIns="0" bIns="0" rtlCol="0" anchor="t">
            <a:spAutoFit/>
          </a:bodyPr>
          <a:lstStyle/>
          <a:p>
            <a:pPr>
              <a:buNone/>
            </a:pPr>
            <a:r>
              <a:rPr lang="en-US" sz="5400" b="1" dirty="0"/>
              <a:t>Unequal Access to Political Power and Representation</a:t>
            </a:r>
            <a:endParaRPr lang="en-US" sz="5400" dirty="0"/>
          </a:p>
          <a:p>
            <a:pPr>
              <a:buFont typeface="Arial" panose="020B0604020202020204" pitchFamily="34" charset="0"/>
              <a:buChar char="•"/>
            </a:pPr>
            <a:r>
              <a:rPr lang="en-US" sz="5400" dirty="0"/>
              <a:t>In many countries, </a:t>
            </a:r>
            <a:r>
              <a:rPr lang="en-US" sz="5400" b="1" dirty="0"/>
              <a:t>marginalized groups</a:t>
            </a:r>
            <a:r>
              <a:rPr lang="en-US" sz="5400" dirty="0"/>
              <a:t> (women, ethnic minorities, and indigenous peoples) have limited political representation.</a:t>
            </a:r>
          </a:p>
          <a:p>
            <a:pPr>
              <a:buFont typeface="Arial" panose="020B0604020202020204" pitchFamily="34" charset="0"/>
              <a:buChar char="•"/>
            </a:pPr>
            <a:r>
              <a:rPr lang="en-US" sz="5400" dirty="0"/>
              <a:t>For example, as of recent years, </a:t>
            </a:r>
            <a:r>
              <a:rPr lang="en-US" sz="5400" b="1" dirty="0"/>
              <a:t>women hold only about 26% of parliamentary seats</a:t>
            </a:r>
            <a:r>
              <a:rPr lang="en-US" sz="5400" dirty="0"/>
              <a:t> globally, despite making up half of the population.</a:t>
            </a:r>
          </a:p>
        </p:txBody>
      </p:sp>
    </p:spTree>
    <p:extLst>
      <p:ext uri="{BB962C8B-B14F-4D97-AF65-F5344CB8AC3E}">
        <p14:creationId xmlns:p14="http://schemas.microsoft.com/office/powerpoint/2010/main" val="719566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A8ABCF0C-E095-09D0-95C7-6CA0CEBCA7C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2A81527-C92A-D59D-0EF4-3C674D35B28D}"/>
              </a:ext>
            </a:extLst>
          </p:cNvPr>
          <p:cNvSpPr/>
          <p:nvPr/>
        </p:nvSpPr>
        <p:spPr>
          <a:xfrm rot="-8644098">
            <a:off x="-333408" y="6356492"/>
            <a:ext cx="6292830" cy="2934854"/>
          </a:xfrm>
          <a:custGeom>
            <a:avLst/>
            <a:gdLst/>
            <a:ahLst/>
            <a:cxnLst/>
            <a:rect l="l" t="t" r="r" b="b"/>
            <a:pathLst>
              <a:path w="9524130" h="7757837">
                <a:moveTo>
                  <a:pt x="0" y="0"/>
                </a:moveTo>
                <a:lnTo>
                  <a:pt x="9524130" y="0"/>
                </a:lnTo>
                <a:lnTo>
                  <a:pt x="9524130" y="7757837"/>
                </a:lnTo>
                <a:lnTo>
                  <a:pt x="0" y="775783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4" name="Freeform 4">
            <a:extLst>
              <a:ext uri="{FF2B5EF4-FFF2-40B4-BE49-F238E27FC236}">
                <a16:creationId xmlns:a16="http://schemas.microsoft.com/office/drawing/2014/main" id="{AC80FBFB-FBEC-ADCD-CF96-F9AEA5B7A5CF}"/>
              </a:ext>
            </a:extLst>
          </p:cNvPr>
          <p:cNvSpPr/>
          <p:nvPr/>
        </p:nvSpPr>
        <p:spPr>
          <a:xfrm>
            <a:off x="10698468" y="5143500"/>
            <a:ext cx="8408694" cy="7200900"/>
          </a:xfrm>
          <a:custGeom>
            <a:avLst/>
            <a:gdLst/>
            <a:ahLst/>
            <a:cxnLst/>
            <a:rect l="l" t="t" r="r" b="b"/>
            <a:pathLst>
              <a:path w="8408694" h="7200900">
                <a:moveTo>
                  <a:pt x="0" y="0"/>
                </a:moveTo>
                <a:lnTo>
                  <a:pt x="8408694" y="0"/>
                </a:lnTo>
                <a:lnTo>
                  <a:pt x="8408694"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grpSp>
        <p:nvGrpSpPr>
          <p:cNvPr id="5" name="Group 5">
            <a:extLst>
              <a:ext uri="{FF2B5EF4-FFF2-40B4-BE49-F238E27FC236}">
                <a16:creationId xmlns:a16="http://schemas.microsoft.com/office/drawing/2014/main" id="{AD4782CB-F707-AE1D-7FFE-474FEB92DF99}"/>
              </a:ext>
            </a:extLst>
          </p:cNvPr>
          <p:cNvGrpSpPr/>
          <p:nvPr/>
        </p:nvGrpSpPr>
        <p:grpSpPr>
          <a:xfrm>
            <a:off x="762000" y="3505113"/>
            <a:ext cx="16386136" cy="6263557"/>
            <a:chOff x="0" y="0"/>
            <a:chExt cx="4315690" cy="1649661"/>
          </a:xfrm>
        </p:grpSpPr>
        <p:sp>
          <p:nvSpPr>
            <p:cNvPr id="6" name="Freeform 6">
              <a:extLst>
                <a:ext uri="{FF2B5EF4-FFF2-40B4-BE49-F238E27FC236}">
                  <a16:creationId xmlns:a16="http://schemas.microsoft.com/office/drawing/2014/main" id="{FC2AA94C-6F1B-D48A-C1F3-36CD72D7DDB6}"/>
                </a:ext>
              </a:extLst>
            </p:cNvPr>
            <p:cNvSpPr/>
            <p:nvPr/>
          </p:nvSpPr>
          <p:spPr>
            <a:xfrm>
              <a:off x="0" y="0"/>
              <a:ext cx="4315690" cy="1649661"/>
            </a:xfrm>
            <a:custGeom>
              <a:avLst/>
              <a:gdLst/>
              <a:ahLst/>
              <a:cxnLst/>
              <a:rect l="l" t="t" r="r" b="b"/>
              <a:pathLst>
                <a:path w="4315690" h="1649661">
                  <a:moveTo>
                    <a:pt x="14174" y="0"/>
                  </a:moveTo>
                  <a:lnTo>
                    <a:pt x="4301517" y="0"/>
                  </a:lnTo>
                  <a:cubicBezTo>
                    <a:pt x="4305276" y="0"/>
                    <a:pt x="4308881" y="1493"/>
                    <a:pt x="4311539" y="4151"/>
                  </a:cubicBezTo>
                  <a:cubicBezTo>
                    <a:pt x="4314197" y="6810"/>
                    <a:pt x="4315690" y="10415"/>
                    <a:pt x="4315690" y="14174"/>
                  </a:cubicBezTo>
                  <a:lnTo>
                    <a:pt x="4315690" y="1635487"/>
                  </a:lnTo>
                  <a:cubicBezTo>
                    <a:pt x="4315690" y="1639246"/>
                    <a:pt x="4314197" y="1642851"/>
                    <a:pt x="4311539" y="1645510"/>
                  </a:cubicBezTo>
                  <a:cubicBezTo>
                    <a:pt x="4308881" y="1648168"/>
                    <a:pt x="4305276" y="1649661"/>
                    <a:pt x="4301517" y="1649661"/>
                  </a:cubicBezTo>
                  <a:lnTo>
                    <a:pt x="14174" y="1649661"/>
                  </a:lnTo>
                  <a:cubicBezTo>
                    <a:pt x="10415" y="1649661"/>
                    <a:pt x="6810" y="1648168"/>
                    <a:pt x="4151" y="1645510"/>
                  </a:cubicBezTo>
                  <a:cubicBezTo>
                    <a:pt x="1493" y="1642851"/>
                    <a:pt x="0" y="1639246"/>
                    <a:pt x="0" y="1635487"/>
                  </a:cubicBezTo>
                  <a:lnTo>
                    <a:pt x="0" y="14174"/>
                  </a:lnTo>
                  <a:cubicBezTo>
                    <a:pt x="0" y="10415"/>
                    <a:pt x="1493" y="6810"/>
                    <a:pt x="4151" y="4151"/>
                  </a:cubicBezTo>
                  <a:cubicBezTo>
                    <a:pt x="6810" y="1493"/>
                    <a:pt x="10415" y="0"/>
                    <a:pt x="14174"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BDB001E5-64D4-4CC1-BA20-F74DE16A5E29}"/>
                </a:ext>
              </a:extLst>
            </p:cNvPr>
            <p:cNvSpPr txBox="1"/>
            <p:nvPr/>
          </p:nvSpPr>
          <p:spPr>
            <a:xfrm>
              <a:off x="0" y="-38100"/>
              <a:ext cx="4315690" cy="1687761"/>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87AE667F-83D3-028B-D1DF-F368ECD6B1CC}"/>
              </a:ext>
            </a:extLst>
          </p:cNvPr>
          <p:cNvSpPr txBox="1"/>
          <p:nvPr/>
        </p:nvSpPr>
        <p:spPr>
          <a:xfrm>
            <a:off x="2723756" y="286494"/>
            <a:ext cx="13130998" cy="2128788"/>
          </a:xfrm>
          <a:prstGeom prst="rect">
            <a:avLst/>
          </a:prstGeom>
        </p:spPr>
        <p:txBody>
          <a:bodyPr lIns="0" tIns="0" rIns="0" bIns="0" rtlCol="0" anchor="t">
            <a:spAutoFit/>
          </a:bodyPr>
          <a:lstStyle/>
          <a:p>
            <a:pPr marL="0" lvl="0" indent="0" algn="ctr">
              <a:lnSpc>
                <a:spcPts val="8280"/>
              </a:lnSpc>
            </a:pPr>
            <a:r>
              <a:rPr lang="en-US" sz="72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6900" b="1" u="none" strike="noStrike"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
        <p:nvSpPr>
          <p:cNvPr id="13" name="Freeform 13">
            <a:extLst>
              <a:ext uri="{FF2B5EF4-FFF2-40B4-BE49-F238E27FC236}">
                <a16:creationId xmlns:a16="http://schemas.microsoft.com/office/drawing/2014/main" id="{E0EBEF2B-6C6A-6BDA-069A-D41B7D679ACA}"/>
              </a:ext>
            </a:extLst>
          </p:cNvPr>
          <p:cNvSpPr/>
          <p:nvPr/>
        </p:nvSpPr>
        <p:spPr>
          <a:xfrm>
            <a:off x="16184983" y="2213496"/>
            <a:ext cx="562277" cy="562277"/>
          </a:xfrm>
          <a:custGeom>
            <a:avLst/>
            <a:gdLst/>
            <a:ahLst/>
            <a:cxnLst/>
            <a:rect l="l" t="t" r="r" b="b"/>
            <a:pathLst>
              <a:path w="562277" h="562277">
                <a:moveTo>
                  <a:pt x="0" y="0"/>
                </a:moveTo>
                <a:lnTo>
                  <a:pt x="562276" y="0"/>
                </a:lnTo>
                <a:lnTo>
                  <a:pt x="562276" y="562277"/>
                </a:lnTo>
                <a:lnTo>
                  <a:pt x="0" y="56227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3B9DDBAB-0D0A-A5BD-0FB4-C7DACAD00E68}"/>
              </a:ext>
            </a:extLst>
          </p:cNvPr>
          <p:cNvSpPr/>
          <p:nvPr/>
        </p:nvSpPr>
        <p:spPr>
          <a:xfrm>
            <a:off x="2273791" y="2637950"/>
            <a:ext cx="215528" cy="215528"/>
          </a:xfrm>
          <a:custGeom>
            <a:avLst/>
            <a:gdLst/>
            <a:ahLst/>
            <a:cxnLst/>
            <a:rect l="l" t="t" r="r" b="b"/>
            <a:pathLst>
              <a:path w="215528" h="215528">
                <a:moveTo>
                  <a:pt x="0" y="0"/>
                </a:moveTo>
                <a:lnTo>
                  <a:pt x="215527" y="0"/>
                </a:lnTo>
                <a:lnTo>
                  <a:pt x="215527" y="215528"/>
                </a:lnTo>
                <a:lnTo>
                  <a:pt x="0" y="2155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542E8806-A892-135C-0756-F7E80D94434D}"/>
              </a:ext>
            </a:extLst>
          </p:cNvPr>
          <p:cNvSpPr/>
          <p:nvPr/>
        </p:nvSpPr>
        <p:spPr>
          <a:xfrm>
            <a:off x="17367064" y="2745714"/>
            <a:ext cx="346749" cy="346749"/>
          </a:xfrm>
          <a:custGeom>
            <a:avLst/>
            <a:gdLst/>
            <a:ahLst/>
            <a:cxnLst/>
            <a:rect l="l" t="t" r="r" b="b"/>
            <a:pathLst>
              <a:path w="346749" h="346749">
                <a:moveTo>
                  <a:pt x="0" y="0"/>
                </a:moveTo>
                <a:lnTo>
                  <a:pt x="346749" y="0"/>
                </a:lnTo>
                <a:lnTo>
                  <a:pt x="346749" y="346749"/>
                </a:lnTo>
                <a:lnTo>
                  <a:pt x="0" y="34674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6" name="TextBox 16">
            <a:extLst>
              <a:ext uri="{FF2B5EF4-FFF2-40B4-BE49-F238E27FC236}">
                <a16:creationId xmlns:a16="http://schemas.microsoft.com/office/drawing/2014/main" id="{09CDCDF9-4823-78E2-E76A-D90C8B436956}"/>
              </a:ext>
            </a:extLst>
          </p:cNvPr>
          <p:cNvSpPr txBox="1"/>
          <p:nvPr/>
        </p:nvSpPr>
        <p:spPr>
          <a:xfrm>
            <a:off x="1596420" y="3804091"/>
            <a:ext cx="15156283" cy="5539978"/>
          </a:xfrm>
          <a:prstGeom prst="rect">
            <a:avLst/>
          </a:prstGeom>
        </p:spPr>
        <p:txBody>
          <a:bodyPr lIns="0" tIns="0" rIns="0" bIns="0" rtlCol="0" anchor="t">
            <a:spAutoFit/>
          </a:bodyPr>
          <a:lstStyle/>
          <a:p>
            <a:pPr>
              <a:buNone/>
            </a:pPr>
            <a:r>
              <a:rPr lang="en-US" sz="6000" b="1" dirty="0"/>
              <a:t>Income Inequality Within Countries even in wealthy nations, there are large gaps between the rich and poor. In the United States, the top 10% of earners hold nearly 70% of the country’s wealth, while the bottom 50% collectively own just 2.5%.</a:t>
            </a:r>
            <a:endParaRPr lang="en-US" sz="6000" dirty="0"/>
          </a:p>
        </p:txBody>
      </p:sp>
    </p:spTree>
    <p:extLst>
      <p:ext uri="{BB962C8B-B14F-4D97-AF65-F5344CB8AC3E}">
        <p14:creationId xmlns:p14="http://schemas.microsoft.com/office/powerpoint/2010/main" val="1762902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5F698C7D-AA74-853E-EA95-22FB6E60879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A11E105-21BB-E438-597C-C444EB138C10}"/>
              </a:ext>
            </a:extLst>
          </p:cNvPr>
          <p:cNvSpPr/>
          <p:nvPr/>
        </p:nvSpPr>
        <p:spPr>
          <a:xfrm rot="-8644098">
            <a:off x="-333408" y="6356492"/>
            <a:ext cx="6292830" cy="2934854"/>
          </a:xfrm>
          <a:custGeom>
            <a:avLst/>
            <a:gdLst/>
            <a:ahLst/>
            <a:cxnLst/>
            <a:rect l="l" t="t" r="r" b="b"/>
            <a:pathLst>
              <a:path w="9524130" h="7757837">
                <a:moveTo>
                  <a:pt x="0" y="0"/>
                </a:moveTo>
                <a:lnTo>
                  <a:pt x="9524130" y="0"/>
                </a:lnTo>
                <a:lnTo>
                  <a:pt x="9524130" y="7757837"/>
                </a:lnTo>
                <a:lnTo>
                  <a:pt x="0" y="775783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4" name="Freeform 4">
            <a:extLst>
              <a:ext uri="{FF2B5EF4-FFF2-40B4-BE49-F238E27FC236}">
                <a16:creationId xmlns:a16="http://schemas.microsoft.com/office/drawing/2014/main" id="{E5F6A531-64A3-A392-3111-E3077BABABB8}"/>
              </a:ext>
            </a:extLst>
          </p:cNvPr>
          <p:cNvSpPr/>
          <p:nvPr/>
        </p:nvSpPr>
        <p:spPr>
          <a:xfrm>
            <a:off x="10698468" y="5143500"/>
            <a:ext cx="8408694" cy="7200900"/>
          </a:xfrm>
          <a:custGeom>
            <a:avLst/>
            <a:gdLst/>
            <a:ahLst/>
            <a:cxnLst/>
            <a:rect l="l" t="t" r="r" b="b"/>
            <a:pathLst>
              <a:path w="8408694" h="7200900">
                <a:moveTo>
                  <a:pt x="0" y="0"/>
                </a:moveTo>
                <a:lnTo>
                  <a:pt x="8408694" y="0"/>
                </a:lnTo>
                <a:lnTo>
                  <a:pt x="8408694"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grpSp>
        <p:nvGrpSpPr>
          <p:cNvPr id="5" name="Group 5">
            <a:extLst>
              <a:ext uri="{FF2B5EF4-FFF2-40B4-BE49-F238E27FC236}">
                <a16:creationId xmlns:a16="http://schemas.microsoft.com/office/drawing/2014/main" id="{2B781947-9210-331E-BDB3-F791515CFDCD}"/>
              </a:ext>
            </a:extLst>
          </p:cNvPr>
          <p:cNvGrpSpPr/>
          <p:nvPr/>
        </p:nvGrpSpPr>
        <p:grpSpPr>
          <a:xfrm>
            <a:off x="762000" y="3505113"/>
            <a:ext cx="16386136" cy="6263557"/>
            <a:chOff x="0" y="0"/>
            <a:chExt cx="4315690" cy="1649661"/>
          </a:xfrm>
        </p:grpSpPr>
        <p:sp>
          <p:nvSpPr>
            <p:cNvPr id="6" name="Freeform 6">
              <a:extLst>
                <a:ext uri="{FF2B5EF4-FFF2-40B4-BE49-F238E27FC236}">
                  <a16:creationId xmlns:a16="http://schemas.microsoft.com/office/drawing/2014/main" id="{CD53E3C3-AFFB-5C2C-E093-5C913EF39D55}"/>
                </a:ext>
              </a:extLst>
            </p:cNvPr>
            <p:cNvSpPr/>
            <p:nvPr/>
          </p:nvSpPr>
          <p:spPr>
            <a:xfrm>
              <a:off x="0" y="0"/>
              <a:ext cx="4315690" cy="1649661"/>
            </a:xfrm>
            <a:custGeom>
              <a:avLst/>
              <a:gdLst/>
              <a:ahLst/>
              <a:cxnLst/>
              <a:rect l="l" t="t" r="r" b="b"/>
              <a:pathLst>
                <a:path w="4315690" h="1649661">
                  <a:moveTo>
                    <a:pt x="14174" y="0"/>
                  </a:moveTo>
                  <a:lnTo>
                    <a:pt x="4301517" y="0"/>
                  </a:lnTo>
                  <a:cubicBezTo>
                    <a:pt x="4305276" y="0"/>
                    <a:pt x="4308881" y="1493"/>
                    <a:pt x="4311539" y="4151"/>
                  </a:cubicBezTo>
                  <a:cubicBezTo>
                    <a:pt x="4314197" y="6810"/>
                    <a:pt x="4315690" y="10415"/>
                    <a:pt x="4315690" y="14174"/>
                  </a:cubicBezTo>
                  <a:lnTo>
                    <a:pt x="4315690" y="1635487"/>
                  </a:lnTo>
                  <a:cubicBezTo>
                    <a:pt x="4315690" y="1639246"/>
                    <a:pt x="4314197" y="1642851"/>
                    <a:pt x="4311539" y="1645510"/>
                  </a:cubicBezTo>
                  <a:cubicBezTo>
                    <a:pt x="4308881" y="1648168"/>
                    <a:pt x="4305276" y="1649661"/>
                    <a:pt x="4301517" y="1649661"/>
                  </a:cubicBezTo>
                  <a:lnTo>
                    <a:pt x="14174" y="1649661"/>
                  </a:lnTo>
                  <a:cubicBezTo>
                    <a:pt x="10415" y="1649661"/>
                    <a:pt x="6810" y="1648168"/>
                    <a:pt x="4151" y="1645510"/>
                  </a:cubicBezTo>
                  <a:cubicBezTo>
                    <a:pt x="1493" y="1642851"/>
                    <a:pt x="0" y="1639246"/>
                    <a:pt x="0" y="1635487"/>
                  </a:cubicBezTo>
                  <a:lnTo>
                    <a:pt x="0" y="14174"/>
                  </a:lnTo>
                  <a:cubicBezTo>
                    <a:pt x="0" y="10415"/>
                    <a:pt x="1493" y="6810"/>
                    <a:pt x="4151" y="4151"/>
                  </a:cubicBezTo>
                  <a:cubicBezTo>
                    <a:pt x="6810" y="1493"/>
                    <a:pt x="10415" y="0"/>
                    <a:pt x="14174"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3485C929-52AC-9C61-7A35-6EFB43DB94F5}"/>
                </a:ext>
              </a:extLst>
            </p:cNvPr>
            <p:cNvSpPr txBox="1"/>
            <p:nvPr/>
          </p:nvSpPr>
          <p:spPr>
            <a:xfrm>
              <a:off x="0" y="-38100"/>
              <a:ext cx="4315690" cy="1687761"/>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D08B07AA-F9F7-55E8-DD2F-FB5741A0B4D7}"/>
              </a:ext>
            </a:extLst>
          </p:cNvPr>
          <p:cNvSpPr txBox="1"/>
          <p:nvPr/>
        </p:nvSpPr>
        <p:spPr>
          <a:xfrm>
            <a:off x="2723756" y="286494"/>
            <a:ext cx="13130998" cy="2128788"/>
          </a:xfrm>
          <a:prstGeom prst="rect">
            <a:avLst/>
          </a:prstGeom>
        </p:spPr>
        <p:txBody>
          <a:bodyPr lIns="0" tIns="0" rIns="0" bIns="0" rtlCol="0" anchor="t">
            <a:spAutoFit/>
          </a:bodyPr>
          <a:lstStyle/>
          <a:p>
            <a:pPr marL="0" lvl="0" indent="0" algn="ctr">
              <a:lnSpc>
                <a:spcPts val="8280"/>
              </a:lnSpc>
            </a:pPr>
            <a:r>
              <a:rPr lang="en-US" sz="72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6900" b="1" u="none" strike="noStrike"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
        <p:nvSpPr>
          <p:cNvPr id="13" name="Freeform 13">
            <a:extLst>
              <a:ext uri="{FF2B5EF4-FFF2-40B4-BE49-F238E27FC236}">
                <a16:creationId xmlns:a16="http://schemas.microsoft.com/office/drawing/2014/main" id="{A8CC15A8-EB7F-333E-C63A-E46C884F9C0B}"/>
              </a:ext>
            </a:extLst>
          </p:cNvPr>
          <p:cNvSpPr/>
          <p:nvPr/>
        </p:nvSpPr>
        <p:spPr>
          <a:xfrm>
            <a:off x="16184983" y="2213496"/>
            <a:ext cx="562277" cy="562277"/>
          </a:xfrm>
          <a:custGeom>
            <a:avLst/>
            <a:gdLst/>
            <a:ahLst/>
            <a:cxnLst/>
            <a:rect l="l" t="t" r="r" b="b"/>
            <a:pathLst>
              <a:path w="562277" h="562277">
                <a:moveTo>
                  <a:pt x="0" y="0"/>
                </a:moveTo>
                <a:lnTo>
                  <a:pt x="562276" y="0"/>
                </a:lnTo>
                <a:lnTo>
                  <a:pt x="562276" y="562277"/>
                </a:lnTo>
                <a:lnTo>
                  <a:pt x="0" y="56227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9BFF64F0-E488-C9C3-E685-F6357603496F}"/>
              </a:ext>
            </a:extLst>
          </p:cNvPr>
          <p:cNvSpPr/>
          <p:nvPr/>
        </p:nvSpPr>
        <p:spPr>
          <a:xfrm>
            <a:off x="2273791" y="2637950"/>
            <a:ext cx="215528" cy="215528"/>
          </a:xfrm>
          <a:custGeom>
            <a:avLst/>
            <a:gdLst/>
            <a:ahLst/>
            <a:cxnLst/>
            <a:rect l="l" t="t" r="r" b="b"/>
            <a:pathLst>
              <a:path w="215528" h="215528">
                <a:moveTo>
                  <a:pt x="0" y="0"/>
                </a:moveTo>
                <a:lnTo>
                  <a:pt x="215527" y="0"/>
                </a:lnTo>
                <a:lnTo>
                  <a:pt x="215527" y="215528"/>
                </a:lnTo>
                <a:lnTo>
                  <a:pt x="0" y="2155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FC47B120-F259-0A82-BB92-6EA52658FE2D}"/>
              </a:ext>
            </a:extLst>
          </p:cNvPr>
          <p:cNvSpPr/>
          <p:nvPr/>
        </p:nvSpPr>
        <p:spPr>
          <a:xfrm>
            <a:off x="17367064" y="2745714"/>
            <a:ext cx="346749" cy="346749"/>
          </a:xfrm>
          <a:custGeom>
            <a:avLst/>
            <a:gdLst/>
            <a:ahLst/>
            <a:cxnLst/>
            <a:rect l="l" t="t" r="r" b="b"/>
            <a:pathLst>
              <a:path w="346749" h="346749">
                <a:moveTo>
                  <a:pt x="0" y="0"/>
                </a:moveTo>
                <a:lnTo>
                  <a:pt x="346749" y="0"/>
                </a:lnTo>
                <a:lnTo>
                  <a:pt x="346749" y="346749"/>
                </a:lnTo>
                <a:lnTo>
                  <a:pt x="0" y="34674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6" name="TextBox 16">
            <a:extLst>
              <a:ext uri="{FF2B5EF4-FFF2-40B4-BE49-F238E27FC236}">
                <a16:creationId xmlns:a16="http://schemas.microsoft.com/office/drawing/2014/main" id="{CFD9690A-9021-4D2B-38EB-8B31EA3EF428}"/>
              </a:ext>
            </a:extLst>
          </p:cNvPr>
          <p:cNvSpPr txBox="1"/>
          <p:nvPr/>
        </p:nvSpPr>
        <p:spPr>
          <a:xfrm>
            <a:off x="1139865" y="3682236"/>
            <a:ext cx="15727532" cy="5816977"/>
          </a:xfrm>
          <a:prstGeom prst="rect">
            <a:avLst/>
          </a:prstGeom>
        </p:spPr>
        <p:txBody>
          <a:bodyPr wrap="square" lIns="0" tIns="0" rIns="0" bIns="0" rtlCol="0" anchor="t">
            <a:spAutoFit/>
          </a:bodyPr>
          <a:lstStyle/>
          <a:p>
            <a:pPr>
              <a:buNone/>
            </a:pPr>
            <a:r>
              <a:rPr lang="en-US" sz="5400" b="1" dirty="0"/>
              <a:t>Political Influence of Wealthy Nations Wealthier countries often have greater influence in global organizations such as the United Nations, World Bank, and International Monetary Fund (IMF).For instance, the G7 nations (all from the Northern Hemisphere) shape major global economic policies, while many developing countries have limited influence.</a:t>
            </a:r>
            <a:endParaRPr lang="en-US" sz="5400" dirty="0"/>
          </a:p>
        </p:txBody>
      </p:sp>
    </p:spTree>
    <p:extLst>
      <p:ext uri="{BB962C8B-B14F-4D97-AF65-F5344CB8AC3E}">
        <p14:creationId xmlns:p14="http://schemas.microsoft.com/office/powerpoint/2010/main" val="4031466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38D0159C-444C-36A2-CBF3-356D91EEF19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D6986A5-4DBC-6B73-A456-608F19EEF1DB}"/>
              </a:ext>
            </a:extLst>
          </p:cNvPr>
          <p:cNvSpPr/>
          <p:nvPr/>
        </p:nvSpPr>
        <p:spPr>
          <a:xfrm rot="-8644098">
            <a:off x="-333408" y="6356492"/>
            <a:ext cx="6292830" cy="2934854"/>
          </a:xfrm>
          <a:custGeom>
            <a:avLst/>
            <a:gdLst/>
            <a:ahLst/>
            <a:cxnLst/>
            <a:rect l="l" t="t" r="r" b="b"/>
            <a:pathLst>
              <a:path w="9524130" h="7757837">
                <a:moveTo>
                  <a:pt x="0" y="0"/>
                </a:moveTo>
                <a:lnTo>
                  <a:pt x="9524130" y="0"/>
                </a:lnTo>
                <a:lnTo>
                  <a:pt x="9524130" y="7757837"/>
                </a:lnTo>
                <a:lnTo>
                  <a:pt x="0" y="775783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4" name="Freeform 4">
            <a:extLst>
              <a:ext uri="{FF2B5EF4-FFF2-40B4-BE49-F238E27FC236}">
                <a16:creationId xmlns:a16="http://schemas.microsoft.com/office/drawing/2014/main" id="{50CB2CA1-0863-6C37-8781-4F2641651456}"/>
              </a:ext>
            </a:extLst>
          </p:cNvPr>
          <p:cNvSpPr/>
          <p:nvPr/>
        </p:nvSpPr>
        <p:spPr>
          <a:xfrm>
            <a:off x="10698468" y="5143500"/>
            <a:ext cx="8408694" cy="7200900"/>
          </a:xfrm>
          <a:custGeom>
            <a:avLst/>
            <a:gdLst/>
            <a:ahLst/>
            <a:cxnLst/>
            <a:rect l="l" t="t" r="r" b="b"/>
            <a:pathLst>
              <a:path w="8408694" h="7200900">
                <a:moveTo>
                  <a:pt x="0" y="0"/>
                </a:moveTo>
                <a:lnTo>
                  <a:pt x="8408694" y="0"/>
                </a:lnTo>
                <a:lnTo>
                  <a:pt x="8408694"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grpSp>
        <p:nvGrpSpPr>
          <p:cNvPr id="5" name="Group 5">
            <a:extLst>
              <a:ext uri="{FF2B5EF4-FFF2-40B4-BE49-F238E27FC236}">
                <a16:creationId xmlns:a16="http://schemas.microsoft.com/office/drawing/2014/main" id="{18F9EFA9-038A-2182-1ACF-71A67A518654}"/>
              </a:ext>
            </a:extLst>
          </p:cNvPr>
          <p:cNvGrpSpPr/>
          <p:nvPr/>
        </p:nvGrpSpPr>
        <p:grpSpPr>
          <a:xfrm>
            <a:off x="381000" y="3238501"/>
            <a:ext cx="17221199" cy="6547440"/>
            <a:chOff x="0" y="0"/>
            <a:chExt cx="4315690" cy="1649661"/>
          </a:xfrm>
        </p:grpSpPr>
        <p:sp>
          <p:nvSpPr>
            <p:cNvPr id="6" name="Freeform 6">
              <a:extLst>
                <a:ext uri="{FF2B5EF4-FFF2-40B4-BE49-F238E27FC236}">
                  <a16:creationId xmlns:a16="http://schemas.microsoft.com/office/drawing/2014/main" id="{6C9691D7-39FA-4AFB-C1FD-A62A9ABD51B3}"/>
                </a:ext>
              </a:extLst>
            </p:cNvPr>
            <p:cNvSpPr/>
            <p:nvPr/>
          </p:nvSpPr>
          <p:spPr>
            <a:xfrm>
              <a:off x="0" y="0"/>
              <a:ext cx="4315690" cy="1649661"/>
            </a:xfrm>
            <a:custGeom>
              <a:avLst/>
              <a:gdLst/>
              <a:ahLst/>
              <a:cxnLst/>
              <a:rect l="l" t="t" r="r" b="b"/>
              <a:pathLst>
                <a:path w="4315690" h="1649661">
                  <a:moveTo>
                    <a:pt x="14174" y="0"/>
                  </a:moveTo>
                  <a:lnTo>
                    <a:pt x="4301517" y="0"/>
                  </a:lnTo>
                  <a:cubicBezTo>
                    <a:pt x="4305276" y="0"/>
                    <a:pt x="4308881" y="1493"/>
                    <a:pt x="4311539" y="4151"/>
                  </a:cubicBezTo>
                  <a:cubicBezTo>
                    <a:pt x="4314197" y="6810"/>
                    <a:pt x="4315690" y="10415"/>
                    <a:pt x="4315690" y="14174"/>
                  </a:cubicBezTo>
                  <a:lnTo>
                    <a:pt x="4315690" y="1635487"/>
                  </a:lnTo>
                  <a:cubicBezTo>
                    <a:pt x="4315690" y="1639246"/>
                    <a:pt x="4314197" y="1642851"/>
                    <a:pt x="4311539" y="1645510"/>
                  </a:cubicBezTo>
                  <a:cubicBezTo>
                    <a:pt x="4308881" y="1648168"/>
                    <a:pt x="4305276" y="1649661"/>
                    <a:pt x="4301517" y="1649661"/>
                  </a:cubicBezTo>
                  <a:lnTo>
                    <a:pt x="14174" y="1649661"/>
                  </a:lnTo>
                  <a:cubicBezTo>
                    <a:pt x="10415" y="1649661"/>
                    <a:pt x="6810" y="1648168"/>
                    <a:pt x="4151" y="1645510"/>
                  </a:cubicBezTo>
                  <a:cubicBezTo>
                    <a:pt x="1493" y="1642851"/>
                    <a:pt x="0" y="1639246"/>
                    <a:pt x="0" y="1635487"/>
                  </a:cubicBezTo>
                  <a:lnTo>
                    <a:pt x="0" y="14174"/>
                  </a:lnTo>
                  <a:cubicBezTo>
                    <a:pt x="0" y="10415"/>
                    <a:pt x="1493" y="6810"/>
                    <a:pt x="4151" y="4151"/>
                  </a:cubicBezTo>
                  <a:cubicBezTo>
                    <a:pt x="6810" y="1493"/>
                    <a:pt x="10415" y="0"/>
                    <a:pt x="14174"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F1B05C27-8925-FBA6-D649-E407851E6694}"/>
                </a:ext>
              </a:extLst>
            </p:cNvPr>
            <p:cNvSpPr txBox="1"/>
            <p:nvPr/>
          </p:nvSpPr>
          <p:spPr>
            <a:xfrm>
              <a:off x="0" y="-38100"/>
              <a:ext cx="4315690" cy="1687761"/>
            </a:xfrm>
            <a:prstGeom prst="rect">
              <a:avLst/>
            </a:prstGeom>
          </p:spPr>
          <p:txBody>
            <a:bodyPr lIns="50800" tIns="50800" rIns="50800" bIns="50800" rtlCol="0" anchor="ctr"/>
            <a:lstStyle/>
            <a:p>
              <a:pPr algn="ctr">
                <a:lnSpc>
                  <a:spcPts val="2659"/>
                </a:lnSpc>
              </a:pPr>
              <a:endParaRPr/>
            </a:p>
          </p:txBody>
        </p:sp>
      </p:grpSp>
      <p:sp>
        <p:nvSpPr>
          <p:cNvPr id="8" name="TextBox 8">
            <a:extLst>
              <a:ext uri="{FF2B5EF4-FFF2-40B4-BE49-F238E27FC236}">
                <a16:creationId xmlns:a16="http://schemas.microsoft.com/office/drawing/2014/main" id="{9A93192E-08B7-E408-42CA-7DD483738D0C}"/>
              </a:ext>
            </a:extLst>
          </p:cNvPr>
          <p:cNvSpPr txBox="1"/>
          <p:nvPr/>
        </p:nvSpPr>
        <p:spPr>
          <a:xfrm>
            <a:off x="2723756" y="286494"/>
            <a:ext cx="13130998" cy="2128788"/>
          </a:xfrm>
          <a:prstGeom prst="rect">
            <a:avLst/>
          </a:prstGeom>
        </p:spPr>
        <p:txBody>
          <a:bodyPr lIns="0" tIns="0" rIns="0" bIns="0" rtlCol="0" anchor="t">
            <a:spAutoFit/>
          </a:bodyPr>
          <a:lstStyle/>
          <a:p>
            <a:pPr marL="0" lvl="0" indent="0" algn="ctr">
              <a:lnSpc>
                <a:spcPts val="8280"/>
              </a:lnSpc>
            </a:pPr>
            <a:r>
              <a:rPr lang="en-US" sz="7200" b="1" dirty="0">
                <a:ln w="6600">
                  <a:solidFill>
                    <a:schemeClr val="accent2"/>
                  </a:solidFill>
                  <a:prstDash val="solid"/>
                </a:ln>
                <a:solidFill>
                  <a:srgbClr val="FFFFFF"/>
                </a:solidFill>
                <a:effectLst>
                  <a:outerShdw dist="38100" dir="2700000" algn="tl" rotWithShape="0">
                    <a:schemeClr val="accent2"/>
                  </a:outerShdw>
                </a:effectLst>
              </a:rPr>
              <a:t>Five Examples of Global Inequality in Terms of Economy and Politics</a:t>
            </a:r>
            <a:endParaRPr lang="en-US" sz="6900" b="1" u="none" strike="noStrike"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
        <p:nvSpPr>
          <p:cNvPr id="13" name="Freeform 13">
            <a:extLst>
              <a:ext uri="{FF2B5EF4-FFF2-40B4-BE49-F238E27FC236}">
                <a16:creationId xmlns:a16="http://schemas.microsoft.com/office/drawing/2014/main" id="{4108E7E0-E14B-63AB-6A63-BE1D1C1EB11C}"/>
              </a:ext>
            </a:extLst>
          </p:cNvPr>
          <p:cNvSpPr/>
          <p:nvPr/>
        </p:nvSpPr>
        <p:spPr>
          <a:xfrm>
            <a:off x="16184983" y="2213496"/>
            <a:ext cx="562277" cy="562277"/>
          </a:xfrm>
          <a:custGeom>
            <a:avLst/>
            <a:gdLst/>
            <a:ahLst/>
            <a:cxnLst/>
            <a:rect l="l" t="t" r="r" b="b"/>
            <a:pathLst>
              <a:path w="562277" h="562277">
                <a:moveTo>
                  <a:pt x="0" y="0"/>
                </a:moveTo>
                <a:lnTo>
                  <a:pt x="562276" y="0"/>
                </a:lnTo>
                <a:lnTo>
                  <a:pt x="562276" y="562277"/>
                </a:lnTo>
                <a:lnTo>
                  <a:pt x="0" y="562277"/>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C9FD5732-F76E-C1F7-8BB6-051A71569730}"/>
              </a:ext>
            </a:extLst>
          </p:cNvPr>
          <p:cNvSpPr/>
          <p:nvPr/>
        </p:nvSpPr>
        <p:spPr>
          <a:xfrm>
            <a:off x="2273791" y="2637950"/>
            <a:ext cx="215528" cy="215528"/>
          </a:xfrm>
          <a:custGeom>
            <a:avLst/>
            <a:gdLst/>
            <a:ahLst/>
            <a:cxnLst/>
            <a:rect l="l" t="t" r="r" b="b"/>
            <a:pathLst>
              <a:path w="215528" h="215528">
                <a:moveTo>
                  <a:pt x="0" y="0"/>
                </a:moveTo>
                <a:lnTo>
                  <a:pt x="215527" y="0"/>
                </a:lnTo>
                <a:lnTo>
                  <a:pt x="215527" y="215528"/>
                </a:lnTo>
                <a:lnTo>
                  <a:pt x="0" y="21552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14B9DEED-5CEA-CE72-3B72-D0DACFFA152F}"/>
              </a:ext>
            </a:extLst>
          </p:cNvPr>
          <p:cNvSpPr/>
          <p:nvPr/>
        </p:nvSpPr>
        <p:spPr>
          <a:xfrm>
            <a:off x="17367064" y="2745714"/>
            <a:ext cx="346749" cy="346749"/>
          </a:xfrm>
          <a:custGeom>
            <a:avLst/>
            <a:gdLst/>
            <a:ahLst/>
            <a:cxnLst/>
            <a:rect l="l" t="t" r="r" b="b"/>
            <a:pathLst>
              <a:path w="346749" h="346749">
                <a:moveTo>
                  <a:pt x="0" y="0"/>
                </a:moveTo>
                <a:lnTo>
                  <a:pt x="346749" y="0"/>
                </a:lnTo>
                <a:lnTo>
                  <a:pt x="346749" y="346749"/>
                </a:lnTo>
                <a:lnTo>
                  <a:pt x="0" y="34674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a:p>
        </p:txBody>
      </p:sp>
      <p:sp>
        <p:nvSpPr>
          <p:cNvPr id="16" name="TextBox 16">
            <a:extLst>
              <a:ext uri="{FF2B5EF4-FFF2-40B4-BE49-F238E27FC236}">
                <a16:creationId xmlns:a16="http://schemas.microsoft.com/office/drawing/2014/main" id="{E40C0BB9-C649-9C0E-3BDB-6292FD7A9BBE}"/>
              </a:ext>
            </a:extLst>
          </p:cNvPr>
          <p:cNvSpPr txBox="1"/>
          <p:nvPr/>
        </p:nvSpPr>
        <p:spPr>
          <a:xfrm>
            <a:off x="990601" y="3682236"/>
            <a:ext cx="15876796" cy="5816977"/>
          </a:xfrm>
          <a:prstGeom prst="rect">
            <a:avLst/>
          </a:prstGeom>
        </p:spPr>
        <p:txBody>
          <a:bodyPr wrap="square" lIns="0" tIns="0" rIns="0" bIns="0" rtlCol="0" anchor="t">
            <a:spAutoFit/>
          </a:bodyPr>
          <a:lstStyle/>
          <a:p>
            <a:pPr>
              <a:buNone/>
            </a:pPr>
            <a:r>
              <a:rPr lang="en-US" sz="5400" b="1" dirty="0"/>
              <a:t>Unequal Trade and Economic Policies</a:t>
            </a:r>
            <a:endParaRPr lang="en-US" sz="5400" dirty="0"/>
          </a:p>
          <a:p>
            <a:pPr>
              <a:buFont typeface="Arial" panose="020B0604020202020204" pitchFamily="34" charset="0"/>
              <a:buChar char="•"/>
            </a:pPr>
            <a:r>
              <a:rPr lang="en-US" sz="5400" b="1" dirty="0"/>
              <a:t>Developing countries</a:t>
            </a:r>
            <a:r>
              <a:rPr lang="en-US" sz="5400" dirty="0"/>
              <a:t> often face </a:t>
            </a:r>
            <a:r>
              <a:rPr lang="en-US" sz="5400" b="1" dirty="0"/>
              <a:t>unfair trade practices</a:t>
            </a:r>
            <a:r>
              <a:rPr lang="en-US" sz="5400" dirty="0"/>
              <a:t>, such as export tariffs, agricultural subsidies in wealthier nations, and restricted access to global markets.</a:t>
            </a:r>
          </a:p>
          <a:p>
            <a:pPr>
              <a:buFont typeface="Arial" panose="020B0604020202020204" pitchFamily="34" charset="0"/>
              <a:buChar char="•"/>
            </a:pPr>
            <a:r>
              <a:rPr lang="en-US" sz="5400" dirty="0"/>
              <a:t>For example, </a:t>
            </a:r>
            <a:r>
              <a:rPr lang="en-US" sz="5400" b="1" dirty="0"/>
              <a:t>African nations export raw materials</a:t>
            </a:r>
            <a:r>
              <a:rPr lang="en-US" sz="5400" dirty="0"/>
              <a:t> but import costly finished products, limiting their economic growth potential.</a:t>
            </a:r>
          </a:p>
        </p:txBody>
      </p:sp>
    </p:spTree>
    <p:extLst>
      <p:ext uri="{BB962C8B-B14F-4D97-AF65-F5344CB8AC3E}">
        <p14:creationId xmlns:p14="http://schemas.microsoft.com/office/powerpoint/2010/main" val="2807446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61BC343A-01C5-D50E-6526-226990E53F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B706CA9-B60F-A1B7-93BD-37C4F24F40C5}"/>
              </a:ext>
            </a:extLst>
          </p:cNvPr>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a:extLst>
              <a:ext uri="{FF2B5EF4-FFF2-40B4-BE49-F238E27FC236}">
                <a16:creationId xmlns:a16="http://schemas.microsoft.com/office/drawing/2014/main" id="{56BB5CD8-18F3-DC56-9383-C4338A5B1C06}"/>
              </a:ext>
            </a:extLst>
          </p:cNvPr>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31FF53FF-383A-ABBE-866E-C374128B684A}"/>
              </a:ext>
            </a:extLst>
          </p:cNvPr>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a:extLst>
              <a:ext uri="{FF2B5EF4-FFF2-40B4-BE49-F238E27FC236}">
                <a16:creationId xmlns:a16="http://schemas.microsoft.com/office/drawing/2014/main" id="{EE5AF582-C73D-9B41-3A39-0AF506024F02}"/>
              </a:ext>
            </a:extLst>
          </p:cNvPr>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a:extLst>
              <a:ext uri="{FF2B5EF4-FFF2-40B4-BE49-F238E27FC236}">
                <a16:creationId xmlns:a16="http://schemas.microsoft.com/office/drawing/2014/main" id="{FE229170-4AF4-4DFC-AABE-1130C91FE9B1}"/>
              </a:ext>
            </a:extLst>
          </p:cNvPr>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a:extLst>
              <a:ext uri="{FF2B5EF4-FFF2-40B4-BE49-F238E27FC236}">
                <a16:creationId xmlns:a16="http://schemas.microsoft.com/office/drawing/2014/main" id="{6091217D-0659-AC06-7ED4-532D3A5EF57E}"/>
              </a:ext>
            </a:extLst>
          </p:cNvPr>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a:extLst>
              <a:ext uri="{FF2B5EF4-FFF2-40B4-BE49-F238E27FC236}">
                <a16:creationId xmlns:a16="http://schemas.microsoft.com/office/drawing/2014/main" id="{D02583AF-762B-FAEA-27CE-328C9D804F6C}"/>
              </a:ext>
            </a:extLst>
          </p:cNvPr>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91D745B7-62CF-5DE0-25D4-26CE65FAAD29}"/>
              </a:ext>
            </a:extLst>
          </p:cNvPr>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ECB78B0F-BA91-8FDC-69D9-A711E921C0D8}"/>
              </a:ext>
            </a:extLst>
          </p:cNvPr>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a:extLst>
              <a:ext uri="{FF2B5EF4-FFF2-40B4-BE49-F238E27FC236}">
                <a16:creationId xmlns:a16="http://schemas.microsoft.com/office/drawing/2014/main" id="{52220304-BDD2-15C5-F6B9-D2F137E1767E}"/>
              </a:ext>
            </a:extLst>
          </p:cNvPr>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a:extLst>
              <a:ext uri="{FF2B5EF4-FFF2-40B4-BE49-F238E27FC236}">
                <a16:creationId xmlns:a16="http://schemas.microsoft.com/office/drawing/2014/main" id="{74CADA57-AF88-EC34-E520-73840FDB34E2}"/>
              </a:ext>
            </a:extLst>
          </p:cNvPr>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82E95A7F-145C-D9BA-B235-A6A6F63B91EF}"/>
              </a:ext>
            </a:extLst>
          </p:cNvPr>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042CA276-B180-CA58-C3B7-03979B97C48B}"/>
              </a:ext>
            </a:extLst>
          </p:cNvPr>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a:extLst>
              <a:ext uri="{FF2B5EF4-FFF2-40B4-BE49-F238E27FC236}">
                <a16:creationId xmlns:a16="http://schemas.microsoft.com/office/drawing/2014/main" id="{747CFFFD-C503-418C-A6B3-EDEE996F352E}"/>
              </a:ext>
            </a:extLst>
          </p:cNvPr>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a:extLst>
              <a:ext uri="{FF2B5EF4-FFF2-40B4-BE49-F238E27FC236}">
                <a16:creationId xmlns:a16="http://schemas.microsoft.com/office/drawing/2014/main" id="{5AB357BF-516F-CFE9-75EC-8135191739AB}"/>
              </a:ext>
            </a:extLst>
          </p:cNvPr>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a:extLst>
              <a:ext uri="{FF2B5EF4-FFF2-40B4-BE49-F238E27FC236}">
                <a16:creationId xmlns:a16="http://schemas.microsoft.com/office/drawing/2014/main" id="{36CF3454-ED36-DEDF-E7A8-E76E71D758DB}"/>
              </a:ext>
            </a:extLst>
          </p:cNvPr>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a:extLst>
              <a:ext uri="{FF2B5EF4-FFF2-40B4-BE49-F238E27FC236}">
                <a16:creationId xmlns:a16="http://schemas.microsoft.com/office/drawing/2014/main" id="{8961D293-3154-C9B2-441B-7224C04A2F2D}"/>
              </a:ext>
            </a:extLst>
          </p:cNvPr>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a:extLst>
              <a:ext uri="{FF2B5EF4-FFF2-40B4-BE49-F238E27FC236}">
                <a16:creationId xmlns:a16="http://schemas.microsoft.com/office/drawing/2014/main" id="{B2A2FC3B-B75A-FC14-F119-9818D4668917}"/>
              </a:ext>
            </a:extLst>
          </p:cNvPr>
          <p:cNvSpPr txBox="1"/>
          <p:nvPr/>
        </p:nvSpPr>
        <p:spPr>
          <a:xfrm>
            <a:off x="1583915" y="3141682"/>
            <a:ext cx="15120169" cy="4636654"/>
          </a:xfrm>
          <a:prstGeom prst="rect">
            <a:avLst/>
          </a:prstGeom>
        </p:spPr>
        <p:txBody>
          <a:bodyPr lIns="0" tIns="0" rIns="0" bIns="0" rtlCol="0" anchor="t">
            <a:spAutoFit/>
          </a:bodyPr>
          <a:lstStyle/>
          <a:p>
            <a:pPr algn="ctr">
              <a:lnSpc>
                <a:spcPts val="9000"/>
              </a:lnSpc>
            </a:pPr>
            <a:r>
              <a:rPr lang="en-US" sz="9600" b="1" dirty="0">
                <a:ln w="6600">
                  <a:solidFill>
                    <a:schemeClr val="accent2"/>
                  </a:solidFill>
                  <a:prstDash val="solid"/>
                </a:ln>
                <a:solidFill>
                  <a:srgbClr val="FFFFFF"/>
                </a:solidFill>
                <a:effectLst>
                  <a:outerShdw dist="38100" dir="2700000" algn="tl" rotWithShape="0">
                    <a:schemeClr val="accent2"/>
                  </a:outerShdw>
                </a:effectLst>
              </a:rPr>
              <a:t>Economic and Political Relevance of ASEAN and Latin America as Regional Groups in the Globalized World</a:t>
            </a:r>
            <a:endParaRPr lang="en-US" sz="90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extLst>
      <p:ext uri="{BB962C8B-B14F-4D97-AF65-F5344CB8AC3E}">
        <p14:creationId xmlns:p14="http://schemas.microsoft.com/office/powerpoint/2010/main" val="1280818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BAAE0135-BD3A-0B0D-D644-D19AE934BC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7A1C93-9697-3A1C-B5BC-AEA7005427E0}"/>
              </a:ext>
            </a:extLst>
          </p:cNvPr>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a:extLst>
              <a:ext uri="{FF2B5EF4-FFF2-40B4-BE49-F238E27FC236}">
                <a16:creationId xmlns:a16="http://schemas.microsoft.com/office/drawing/2014/main" id="{992039AE-AA95-5E9D-B617-423AB1FA7FD2}"/>
              </a:ext>
            </a:extLst>
          </p:cNvPr>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2C7F1A45-4294-6C22-E98B-9242F4A2E38D}"/>
              </a:ext>
            </a:extLst>
          </p:cNvPr>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a:extLst>
              <a:ext uri="{FF2B5EF4-FFF2-40B4-BE49-F238E27FC236}">
                <a16:creationId xmlns:a16="http://schemas.microsoft.com/office/drawing/2014/main" id="{9D469120-F344-4E94-387F-DAA119B54B53}"/>
              </a:ext>
            </a:extLst>
          </p:cNvPr>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a:extLst>
              <a:ext uri="{FF2B5EF4-FFF2-40B4-BE49-F238E27FC236}">
                <a16:creationId xmlns:a16="http://schemas.microsoft.com/office/drawing/2014/main" id="{5DCB055C-7A60-C352-7FE6-E44F43254A08}"/>
              </a:ext>
            </a:extLst>
          </p:cNvPr>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a:extLst>
              <a:ext uri="{FF2B5EF4-FFF2-40B4-BE49-F238E27FC236}">
                <a16:creationId xmlns:a16="http://schemas.microsoft.com/office/drawing/2014/main" id="{8EA4F4BD-933D-B3CC-1B9A-A0FE67EB51F3}"/>
              </a:ext>
            </a:extLst>
          </p:cNvPr>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a:extLst>
              <a:ext uri="{FF2B5EF4-FFF2-40B4-BE49-F238E27FC236}">
                <a16:creationId xmlns:a16="http://schemas.microsoft.com/office/drawing/2014/main" id="{615A44A5-5D22-9138-3A5D-9CB6AFEFD4FD}"/>
              </a:ext>
            </a:extLst>
          </p:cNvPr>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55D45745-8900-9102-D10C-84CC146DFEC4}"/>
              </a:ext>
            </a:extLst>
          </p:cNvPr>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FF474326-5019-E094-6AEF-962E82305755}"/>
              </a:ext>
            </a:extLst>
          </p:cNvPr>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a:extLst>
              <a:ext uri="{FF2B5EF4-FFF2-40B4-BE49-F238E27FC236}">
                <a16:creationId xmlns:a16="http://schemas.microsoft.com/office/drawing/2014/main" id="{14FFB87B-EF30-8263-2703-7D44C815348D}"/>
              </a:ext>
            </a:extLst>
          </p:cNvPr>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a:extLst>
              <a:ext uri="{FF2B5EF4-FFF2-40B4-BE49-F238E27FC236}">
                <a16:creationId xmlns:a16="http://schemas.microsoft.com/office/drawing/2014/main" id="{AD14A708-9487-14BD-5B85-AD45EF50B2F9}"/>
              </a:ext>
            </a:extLst>
          </p:cNvPr>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EF1D9FF3-7FFE-EF37-A37A-72E430353730}"/>
              </a:ext>
            </a:extLst>
          </p:cNvPr>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5CA469E2-087E-63B0-B75B-21E43BEC8AEB}"/>
              </a:ext>
            </a:extLst>
          </p:cNvPr>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a:extLst>
              <a:ext uri="{FF2B5EF4-FFF2-40B4-BE49-F238E27FC236}">
                <a16:creationId xmlns:a16="http://schemas.microsoft.com/office/drawing/2014/main" id="{AC533789-0AA7-57A2-0B20-87F9342B3DED}"/>
              </a:ext>
            </a:extLst>
          </p:cNvPr>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a:extLst>
              <a:ext uri="{FF2B5EF4-FFF2-40B4-BE49-F238E27FC236}">
                <a16:creationId xmlns:a16="http://schemas.microsoft.com/office/drawing/2014/main" id="{0E05629E-51C8-CC10-6E87-65BEDC25AD15}"/>
              </a:ext>
            </a:extLst>
          </p:cNvPr>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a:extLst>
              <a:ext uri="{FF2B5EF4-FFF2-40B4-BE49-F238E27FC236}">
                <a16:creationId xmlns:a16="http://schemas.microsoft.com/office/drawing/2014/main" id="{19FEBF76-F00C-C6F1-8D53-D778F598838C}"/>
              </a:ext>
            </a:extLst>
          </p:cNvPr>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a:extLst>
              <a:ext uri="{FF2B5EF4-FFF2-40B4-BE49-F238E27FC236}">
                <a16:creationId xmlns:a16="http://schemas.microsoft.com/office/drawing/2014/main" id="{9D5CDF0B-7437-CC35-394B-FB8CC89421AB}"/>
              </a:ext>
            </a:extLst>
          </p:cNvPr>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a:extLst>
              <a:ext uri="{FF2B5EF4-FFF2-40B4-BE49-F238E27FC236}">
                <a16:creationId xmlns:a16="http://schemas.microsoft.com/office/drawing/2014/main" id="{3EF5E085-4D47-28FA-6CD7-9802AB0F7F98}"/>
              </a:ext>
            </a:extLst>
          </p:cNvPr>
          <p:cNvSpPr txBox="1"/>
          <p:nvPr/>
        </p:nvSpPr>
        <p:spPr>
          <a:xfrm>
            <a:off x="1583915" y="3496612"/>
            <a:ext cx="15120169" cy="1174168"/>
          </a:xfrm>
          <a:prstGeom prst="rect">
            <a:avLst/>
          </a:prstGeom>
        </p:spPr>
        <p:txBody>
          <a:bodyPr lIns="0" tIns="0" rIns="0" bIns="0" rtlCol="0" anchor="t">
            <a:spAutoFit/>
          </a:bodyPr>
          <a:lstStyle/>
          <a:p>
            <a:pPr algn="ctr">
              <a:lnSpc>
                <a:spcPts val="9000"/>
              </a:lnSpc>
            </a:pPr>
            <a:r>
              <a:rPr lang="en-PH" sz="9600" b="1" dirty="0">
                <a:ln w="6600">
                  <a:solidFill>
                    <a:schemeClr val="accent2"/>
                  </a:solidFill>
                  <a:prstDash val="solid"/>
                </a:ln>
                <a:solidFill>
                  <a:srgbClr val="FFFFFF"/>
                </a:solidFill>
                <a:effectLst>
                  <a:outerShdw dist="38100" dir="2700000" algn="tl" rotWithShape="0">
                    <a:schemeClr val="accent2"/>
                  </a:outerShdw>
                </a:effectLst>
              </a:rPr>
              <a:t>Economic Relevance</a:t>
            </a:r>
            <a:endParaRPr lang="en-US" sz="90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extLst>
      <p:ext uri="{BB962C8B-B14F-4D97-AF65-F5344CB8AC3E}">
        <p14:creationId xmlns:p14="http://schemas.microsoft.com/office/powerpoint/2010/main" val="3130605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TextBox 2"/>
          <p:cNvSpPr txBox="1"/>
          <p:nvPr/>
        </p:nvSpPr>
        <p:spPr>
          <a:xfrm>
            <a:off x="685800" y="219075"/>
            <a:ext cx="17221200" cy="9848850"/>
          </a:xfrm>
          <a:prstGeom prst="rect">
            <a:avLst/>
          </a:prstGeom>
        </p:spPr>
        <p:txBody>
          <a:bodyPr wrap="square" lIns="0" tIns="0" rIns="0" bIns="0" rtlCol="0" anchor="t">
            <a:spAutoFit/>
          </a:bodyPr>
          <a:lstStyle/>
          <a:p>
            <a:pPr algn="ctr">
              <a:spcBef>
                <a:spcPct val="0"/>
              </a:spcBef>
            </a:pP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Arimo Bold"/>
                <a:ea typeface="Arimo Bold"/>
                <a:cs typeface="Arimo Bold"/>
                <a:sym typeface="Arimo Bold"/>
              </a:rPr>
              <a:t>ASEAN (Association of Southeast Asian Nations)</a:t>
            </a:r>
          </a:p>
          <a:p>
            <a:pPr algn="just">
              <a:spcBef>
                <a:spcPct val="0"/>
              </a:spcBef>
            </a:pPr>
            <a:endParaRPr lang="en-US" sz="3200" b="1" spc="169" dirty="0">
              <a:solidFill>
                <a:srgbClr val="D9FD99"/>
              </a:solidFill>
              <a:latin typeface="Arimo Bold"/>
              <a:ea typeface="Arimo Bold"/>
              <a:cs typeface="Arimo Bold"/>
              <a:sym typeface="Arimo Bold"/>
            </a:endParaRPr>
          </a:p>
          <a:p>
            <a:pPr algn="just">
              <a:spcBef>
                <a:spcPct val="0"/>
              </a:spcBef>
            </a:pPr>
            <a:r>
              <a:rPr lang="en-US" sz="3200" b="1" spc="169" dirty="0">
                <a:solidFill>
                  <a:srgbClr val="D9FD99"/>
                </a:solidFill>
                <a:latin typeface="Arimo Bold"/>
                <a:ea typeface="Arimo Bold"/>
                <a:cs typeface="Arimo Bold"/>
                <a:sym typeface="Arimo Bold"/>
              </a:rPr>
              <a:t>Major Trading Bloc: </a:t>
            </a:r>
            <a:r>
              <a:rPr lang="en-US" sz="3200" b="1" spc="169" dirty="0">
                <a:solidFill>
                  <a:schemeClr val="bg1"/>
                </a:solidFill>
                <a:latin typeface="Arimo Bold"/>
                <a:ea typeface="Arimo Bold"/>
                <a:cs typeface="Arimo Bold"/>
                <a:sym typeface="Arimo Bold"/>
              </a:rPr>
              <a:t>ASEAN is one of the world’s largest trading blocs, with a combined GDP of over $3.6 trillion. </a:t>
            </a:r>
          </a:p>
          <a:p>
            <a:pPr algn="just">
              <a:spcBef>
                <a:spcPct val="0"/>
              </a:spcBef>
            </a:pPr>
            <a:endParaRPr lang="en-US" sz="3200" b="1" spc="169" dirty="0">
              <a:solidFill>
                <a:srgbClr val="D9FD99"/>
              </a:solidFill>
              <a:latin typeface="Arimo Bold"/>
              <a:ea typeface="Arimo Bold"/>
              <a:cs typeface="Arimo Bold"/>
              <a:sym typeface="Arimo Bold"/>
            </a:endParaRPr>
          </a:p>
          <a:p>
            <a:pPr algn="just">
              <a:spcBef>
                <a:spcPct val="0"/>
              </a:spcBef>
            </a:pPr>
            <a:r>
              <a:rPr lang="en-US" sz="3200" b="1" spc="169" dirty="0">
                <a:solidFill>
                  <a:srgbClr val="D9FD99"/>
                </a:solidFill>
                <a:latin typeface="Arimo Bold"/>
                <a:ea typeface="Arimo Bold"/>
                <a:cs typeface="Arimo Bold"/>
                <a:sym typeface="Arimo Bold"/>
              </a:rPr>
              <a:t>It plays a key role in global trade and investment, particularly in electronics, manufacturing, and agriculture.</a:t>
            </a:r>
          </a:p>
          <a:p>
            <a:pPr algn="just">
              <a:spcBef>
                <a:spcPct val="0"/>
              </a:spcBef>
            </a:pPr>
            <a:endParaRPr lang="en-US" sz="3200" b="1" spc="169" dirty="0">
              <a:solidFill>
                <a:srgbClr val="D9FD99"/>
              </a:solidFill>
              <a:latin typeface="Arimo Bold"/>
              <a:ea typeface="Arimo Bold"/>
              <a:cs typeface="Arimo Bold"/>
              <a:sym typeface="Arimo Bold"/>
            </a:endParaRPr>
          </a:p>
          <a:p>
            <a:pPr algn="just">
              <a:spcBef>
                <a:spcPct val="0"/>
              </a:spcBef>
            </a:pPr>
            <a:r>
              <a:rPr lang="en-US" sz="3200" b="1" spc="169" dirty="0">
                <a:solidFill>
                  <a:srgbClr val="D9FD99"/>
                </a:solidFill>
                <a:latin typeface="Arimo Bold"/>
                <a:ea typeface="Arimo Bold"/>
                <a:cs typeface="Arimo Bold"/>
                <a:sym typeface="Arimo Bold"/>
              </a:rPr>
              <a:t>Free Trade Agreements (FTAs): </a:t>
            </a:r>
            <a:r>
              <a:rPr lang="en-US" sz="3200" b="1" spc="169" dirty="0">
                <a:solidFill>
                  <a:schemeClr val="bg1"/>
                </a:solidFill>
                <a:latin typeface="Arimo Bold"/>
                <a:ea typeface="Arimo Bold"/>
                <a:cs typeface="Arimo Bold"/>
                <a:sym typeface="Arimo Bold"/>
              </a:rPr>
              <a:t>ASEAN has trade agreements with major economies such as China, Japan, South Korea, Australia, and New Zealand. </a:t>
            </a:r>
            <a:br>
              <a:rPr lang="en-US" sz="3200" b="1" spc="169" dirty="0">
                <a:solidFill>
                  <a:srgbClr val="D9FD99"/>
                </a:solidFill>
                <a:latin typeface="Arimo Bold"/>
                <a:ea typeface="Arimo Bold"/>
                <a:cs typeface="Arimo Bold"/>
                <a:sym typeface="Arimo Bold"/>
              </a:rPr>
            </a:br>
            <a:endParaRPr lang="en-US" sz="3200" b="1" spc="169" dirty="0">
              <a:solidFill>
                <a:srgbClr val="D9FD99"/>
              </a:solidFill>
              <a:latin typeface="Arimo Bold"/>
              <a:ea typeface="Arimo Bold"/>
              <a:cs typeface="Arimo Bold"/>
              <a:sym typeface="Arimo Bold"/>
            </a:endParaRPr>
          </a:p>
          <a:p>
            <a:pPr algn="just">
              <a:spcBef>
                <a:spcPct val="0"/>
              </a:spcBef>
            </a:pPr>
            <a:r>
              <a:rPr lang="en-US" sz="3200" b="1" spc="169" dirty="0">
                <a:solidFill>
                  <a:srgbClr val="D9FD99"/>
                </a:solidFill>
                <a:latin typeface="Arimo Bold"/>
                <a:ea typeface="Arimo Bold"/>
                <a:cs typeface="Arimo Bold"/>
                <a:sym typeface="Arimo Bold"/>
              </a:rPr>
              <a:t>This makes it a significant player in the global supply </a:t>
            </a:r>
            <a:r>
              <a:rPr lang="en-US" sz="3200" b="1" spc="169" dirty="0" err="1">
                <a:solidFill>
                  <a:srgbClr val="D9FD99"/>
                </a:solidFill>
                <a:latin typeface="Arimo Bold"/>
                <a:ea typeface="Arimo Bold"/>
                <a:cs typeface="Arimo Bold"/>
                <a:sym typeface="Arimo Bold"/>
              </a:rPr>
              <a:t>chain.Regional</a:t>
            </a:r>
            <a:r>
              <a:rPr lang="en-US" sz="3200" b="1" spc="169" dirty="0">
                <a:solidFill>
                  <a:srgbClr val="D9FD99"/>
                </a:solidFill>
                <a:latin typeface="Arimo Bold"/>
                <a:ea typeface="Arimo Bold"/>
                <a:cs typeface="Arimo Bold"/>
                <a:sym typeface="Arimo Bold"/>
              </a:rPr>
              <a:t> Economic Integration: </a:t>
            </a:r>
          </a:p>
          <a:p>
            <a:pPr algn="just">
              <a:spcBef>
                <a:spcPct val="0"/>
              </a:spcBef>
            </a:pPr>
            <a:r>
              <a:rPr lang="en-US" sz="3200" b="1" spc="169" dirty="0">
                <a:solidFill>
                  <a:schemeClr val="bg1"/>
                </a:solidFill>
                <a:latin typeface="Arimo Bold"/>
                <a:ea typeface="Arimo Bold"/>
                <a:cs typeface="Arimo Bold"/>
                <a:sym typeface="Arimo Bold"/>
              </a:rPr>
              <a:t>The ASEAN Economic Community (AEC) promotes free movement of goods, services, and skilled labor, boosting economic cooperation and competitiveness.</a:t>
            </a:r>
          </a:p>
          <a:p>
            <a:pPr algn="just">
              <a:spcBef>
                <a:spcPct val="0"/>
              </a:spcBef>
            </a:pPr>
            <a:endParaRPr lang="en-US" sz="3200" b="1" spc="169" dirty="0">
              <a:solidFill>
                <a:srgbClr val="D9FD99"/>
              </a:solidFill>
              <a:latin typeface="Arimo Bold"/>
              <a:ea typeface="Arimo Bold"/>
              <a:cs typeface="Arimo Bold"/>
              <a:sym typeface="Arimo Bold"/>
            </a:endParaRPr>
          </a:p>
          <a:p>
            <a:pPr algn="just">
              <a:spcBef>
                <a:spcPct val="0"/>
              </a:spcBef>
            </a:pPr>
            <a:r>
              <a:rPr lang="en-US" sz="3200" b="1" spc="169" dirty="0">
                <a:solidFill>
                  <a:srgbClr val="D9FD99"/>
                </a:solidFill>
                <a:latin typeface="Arimo Bold"/>
                <a:ea typeface="Arimo Bold"/>
                <a:cs typeface="Arimo Bold"/>
                <a:sym typeface="Arimo Bold"/>
              </a:rPr>
              <a:t>Emerging Digital Economy: </a:t>
            </a:r>
            <a:r>
              <a:rPr lang="en-US" sz="3200" b="1" spc="169" dirty="0">
                <a:solidFill>
                  <a:schemeClr val="bg1"/>
                </a:solidFill>
                <a:latin typeface="Arimo Bold"/>
                <a:ea typeface="Arimo Bold"/>
                <a:cs typeface="Arimo Bold"/>
                <a:sym typeface="Arimo Bold"/>
              </a:rPr>
              <a:t>ASEAN is rapidly growing in digital innovation, with countries like Singapore, Malaysia, and Indonesia driving e-commerce, fintech, and digital startups.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TextBox 2"/>
          <p:cNvSpPr txBox="1"/>
          <p:nvPr/>
        </p:nvSpPr>
        <p:spPr>
          <a:xfrm>
            <a:off x="647700" y="547370"/>
            <a:ext cx="16992600" cy="9192260"/>
          </a:xfrm>
          <a:prstGeom prst="rect">
            <a:avLst/>
          </a:prstGeom>
        </p:spPr>
        <p:txBody>
          <a:bodyPr wrap="square" lIns="0" tIns="0" rIns="0" bIns="0" rtlCol="0" anchor="t">
            <a:spAutoFit/>
          </a:bodyPr>
          <a:lstStyle/>
          <a:p>
            <a:pPr algn="just">
              <a:lnSpc>
                <a:spcPts val="6439"/>
              </a:lnSpc>
              <a:spcBef>
                <a:spcPct val="0"/>
              </a:spcBef>
            </a:pPr>
            <a:r>
              <a:rPr lang="en-PH" sz="5400" b="1" spc="50" dirty="0">
                <a:ln w="9525" cmpd="sng">
                  <a:solidFill>
                    <a:schemeClr val="accent1"/>
                  </a:solidFill>
                  <a:prstDash val="solid"/>
                </a:ln>
                <a:solidFill>
                  <a:srgbClr val="70AD47">
                    <a:tint val="1000"/>
                  </a:srgbClr>
                </a:solidFill>
                <a:effectLst>
                  <a:glow rad="38100">
                    <a:schemeClr val="accent1">
                      <a:alpha val="40000"/>
                    </a:schemeClr>
                  </a:glow>
                </a:effectLst>
              </a:rPr>
              <a:t>Latin America (LATAM)</a:t>
            </a:r>
          </a:p>
          <a:p>
            <a:pPr algn="just">
              <a:spcBef>
                <a:spcPct val="0"/>
              </a:spcBef>
            </a:pPr>
            <a:r>
              <a:rPr lang="en-US" sz="3200" b="1" spc="165" dirty="0">
                <a:solidFill>
                  <a:srgbClr val="FF0000"/>
                </a:solidFill>
                <a:latin typeface="Arimo"/>
                <a:ea typeface="Arimo"/>
                <a:cs typeface="Arimo"/>
                <a:sym typeface="Arimo"/>
              </a:rPr>
              <a:t>Rich in Natural Resources: </a:t>
            </a:r>
            <a:r>
              <a:rPr lang="en-US" sz="3200" spc="165" dirty="0">
                <a:solidFill>
                  <a:srgbClr val="FFFFFF"/>
                </a:solidFill>
                <a:latin typeface="Arimo"/>
                <a:ea typeface="Arimo"/>
                <a:cs typeface="Arimo"/>
                <a:sym typeface="Arimo"/>
              </a:rPr>
              <a:t>Latin America is a major exporter of agricultural products, minerals, and energy resources. </a:t>
            </a:r>
          </a:p>
          <a:p>
            <a:pPr algn="just">
              <a:spcBef>
                <a:spcPct val="0"/>
              </a:spcBef>
            </a:pPr>
            <a:endParaRPr lang="en-US" sz="3200" spc="165" dirty="0">
              <a:solidFill>
                <a:srgbClr val="FFFFFF"/>
              </a:solidFill>
              <a:latin typeface="Arimo"/>
              <a:ea typeface="Arimo"/>
              <a:cs typeface="Arimo"/>
              <a:sym typeface="Arimo"/>
            </a:endParaRPr>
          </a:p>
          <a:p>
            <a:pPr algn="just">
              <a:spcBef>
                <a:spcPct val="0"/>
              </a:spcBef>
            </a:pPr>
            <a:r>
              <a:rPr lang="en-US" sz="3200" spc="165" dirty="0">
                <a:solidFill>
                  <a:srgbClr val="FFFFFF"/>
                </a:solidFill>
                <a:latin typeface="Arimo"/>
                <a:ea typeface="Arimo"/>
                <a:cs typeface="Arimo"/>
                <a:sym typeface="Arimo"/>
              </a:rPr>
              <a:t>Countries like Brazil and Argentina lead in soy, coffee, and beef exports, while Chile and Peru dominate copper production.</a:t>
            </a:r>
          </a:p>
          <a:p>
            <a:pPr algn="just">
              <a:spcBef>
                <a:spcPct val="0"/>
              </a:spcBef>
            </a:pPr>
            <a:endParaRPr lang="en-US" sz="3200" spc="165" dirty="0">
              <a:solidFill>
                <a:srgbClr val="FFFFFF"/>
              </a:solidFill>
              <a:latin typeface="Arimo"/>
              <a:ea typeface="Arimo"/>
              <a:cs typeface="Arimo"/>
              <a:sym typeface="Arimo"/>
            </a:endParaRPr>
          </a:p>
          <a:p>
            <a:pPr algn="just">
              <a:spcBef>
                <a:spcPct val="0"/>
              </a:spcBef>
            </a:pPr>
            <a:r>
              <a:rPr lang="en-US" sz="3200" b="1" spc="165" dirty="0">
                <a:solidFill>
                  <a:srgbClr val="FF0000"/>
                </a:solidFill>
                <a:latin typeface="Arimo"/>
                <a:ea typeface="Arimo"/>
                <a:cs typeface="Arimo"/>
                <a:sym typeface="Arimo"/>
              </a:rPr>
              <a:t>Trade Agreements and Regional Integration: </a:t>
            </a:r>
            <a:r>
              <a:rPr lang="en-US" sz="3200" spc="165" dirty="0">
                <a:solidFill>
                  <a:srgbClr val="FFFFFF"/>
                </a:solidFill>
                <a:latin typeface="Arimo"/>
                <a:ea typeface="Arimo"/>
                <a:cs typeface="Arimo"/>
                <a:sym typeface="Arimo"/>
              </a:rPr>
              <a:t>MERCOSUR (Southern Common Market) fosters free trade and economic cooperation among Argentina, Brazil, Paraguay, and </a:t>
            </a:r>
            <a:r>
              <a:rPr lang="en-US" sz="3200" spc="165" dirty="0" err="1">
                <a:solidFill>
                  <a:srgbClr val="FFFFFF"/>
                </a:solidFill>
                <a:latin typeface="Arimo"/>
                <a:ea typeface="Arimo"/>
                <a:cs typeface="Arimo"/>
                <a:sym typeface="Arimo"/>
              </a:rPr>
              <a:t>Uruguay.The</a:t>
            </a:r>
            <a:r>
              <a:rPr lang="en-US" sz="3200" spc="165" dirty="0">
                <a:solidFill>
                  <a:srgbClr val="FFFFFF"/>
                </a:solidFill>
                <a:latin typeface="Arimo"/>
                <a:ea typeface="Arimo"/>
                <a:cs typeface="Arimo"/>
                <a:sym typeface="Arimo"/>
              </a:rPr>
              <a:t> Pacific Alliance (Mexico, Colombia, Peru, and Chile) promotes free trade and economic integration.</a:t>
            </a:r>
          </a:p>
          <a:p>
            <a:pPr algn="just">
              <a:spcBef>
                <a:spcPct val="0"/>
              </a:spcBef>
            </a:pPr>
            <a:endParaRPr lang="en-US" sz="3200" spc="165" dirty="0">
              <a:solidFill>
                <a:srgbClr val="FFFFFF"/>
              </a:solidFill>
              <a:latin typeface="Arimo"/>
              <a:ea typeface="Arimo"/>
              <a:cs typeface="Arimo"/>
              <a:sym typeface="Arimo"/>
            </a:endParaRPr>
          </a:p>
          <a:p>
            <a:pPr algn="just">
              <a:spcBef>
                <a:spcPct val="0"/>
              </a:spcBef>
            </a:pPr>
            <a:r>
              <a:rPr lang="en-US" sz="3200" b="1" spc="165" dirty="0">
                <a:solidFill>
                  <a:srgbClr val="FF0000"/>
                </a:solidFill>
                <a:latin typeface="Arimo"/>
                <a:ea typeface="Arimo"/>
                <a:cs typeface="Arimo"/>
                <a:sym typeface="Arimo"/>
              </a:rPr>
              <a:t>Growing Consumer Market: </a:t>
            </a:r>
            <a:r>
              <a:rPr lang="en-US" sz="3200" spc="165" dirty="0">
                <a:solidFill>
                  <a:srgbClr val="FFFFFF"/>
                </a:solidFill>
                <a:latin typeface="Arimo"/>
                <a:ea typeface="Arimo"/>
                <a:cs typeface="Arimo"/>
                <a:sym typeface="Arimo"/>
              </a:rPr>
              <a:t>With over 660 million people, Latin America offers a significant consumer base, attracting foreign investments in retail, technology, and </a:t>
            </a:r>
          </a:p>
          <a:p>
            <a:pPr algn="just">
              <a:spcBef>
                <a:spcPct val="0"/>
              </a:spcBef>
            </a:pPr>
            <a:endParaRPr lang="en-US" sz="3200" spc="165" dirty="0">
              <a:solidFill>
                <a:srgbClr val="FFFFFF"/>
              </a:solidFill>
              <a:latin typeface="Arimo"/>
              <a:ea typeface="Arimo"/>
              <a:cs typeface="Arimo"/>
              <a:sym typeface="Arimo"/>
            </a:endParaRPr>
          </a:p>
          <a:p>
            <a:pPr algn="just">
              <a:spcBef>
                <a:spcPct val="0"/>
              </a:spcBef>
            </a:pPr>
            <a:r>
              <a:rPr lang="en-US" sz="3200" b="1" spc="165" dirty="0" err="1">
                <a:solidFill>
                  <a:srgbClr val="FF0000"/>
                </a:solidFill>
                <a:latin typeface="Arimo"/>
                <a:ea typeface="Arimo"/>
                <a:cs typeface="Arimo"/>
                <a:sym typeface="Arimo"/>
              </a:rPr>
              <a:t>Manufacturing.Potential</a:t>
            </a:r>
            <a:r>
              <a:rPr lang="en-US" sz="3200" b="1" spc="165" dirty="0">
                <a:solidFill>
                  <a:srgbClr val="FF0000"/>
                </a:solidFill>
                <a:latin typeface="Arimo"/>
                <a:ea typeface="Arimo"/>
                <a:cs typeface="Arimo"/>
                <a:sym typeface="Arimo"/>
              </a:rPr>
              <a:t> for Renewable Energy: </a:t>
            </a:r>
            <a:r>
              <a:rPr lang="en-US" sz="3200" spc="165" dirty="0">
                <a:solidFill>
                  <a:srgbClr val="FFFFFF"/>
                </a:solidFill>
                <a:latin typeface="Arimo"/>
                <a:ea typeface="Arimo"/>
                <a:cs typeface="Arimo"/>
                <a:sym typeface="Arimo"/>
              </a:rPr>
              <a:t>The region is expanding its renewable energy sector, particularly in solar and wind power, making it a key player in the global green economy.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67E1C126-CD93-F979-B39F-657F6A7B4B9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B51537-526B-B02A-A223-DCD4AE0B58D2}"/>
              </a:ext>
            </a:extLst>
          </p:cNvPr>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a:extLst>
              <a:ext uri="{FF2B5EF4-FFF2-40B4-BE49-F238E27FC236}">
                <a16:creationId xmlns:a16="http://schemas.microsoft.com/office/drawing/2014/main" id="{70DBAACB-D650-C3EC-950E-8C3E2F2731DD}"/>
              </a:ext>
            </a:extLst>
          </p:cNvPr>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6134301-CB55-9C4C-CB5B-DA7DA9D42CEC}"/>
              </a:ext>
            </a:extLst>
          </p:cNvPr>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a:extLst>
              <a:ext uri="{FF2B5EF4-FFF2-40B4-BE49-F238E27FC236}">
                <a16:creationId xmlns:a16="http://schemas.microsoft.com/office/drawing/2014/main" id="{FAC2FEEF-3895-DCE2-C5A1-C4492B60AB55}"/>
              </a:ext>
            </a:extLst>
          </p:cNvPr>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a:extLst>
              <a:ext uri="{FF2B5EF4-FFF2-40B4-BE49-F238E27FC236}">
                <a16:creationId xmlns:a16="http://schemas.microsoft.com/office/drawing/2014/main" id="{705DB5EE-2317-D52F-842D-D06CE1CEDF1F}"/>
              </a:ext>
            </a:extLst>
          </p:cNvPr>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a:extLst>
              <a:ext uri="{FF2B5EF4-FFF2-40B4-BE49-F238E27FC236}">
                <a16:creationId xmlns:a16="http://schemas.microsoft.com/office/drawing/2014/main" id="{6C698B21-9C5B-0C6D-87D4-279D47CA6233}"/>
              </a:ext>
            </a:extLst>
          </p:cNvPr>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a:extLst>
              <a:ext uri="{FF2B5EF4-FFF2-40B4-BE49-F238E27FC236}">
                <a16:creationId xmlns:a16="http://schemas.microsoft.com/office/drawing/2014/main" id="{80B27E90-65C4-A4A8-AFE2-BF570EE7421A}"/>
              </a:ext>
            </a:extLst>
          </p:cNvPr>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003D2B29-33EB-5451-4812-F6C3046BA4BB}"/>
              </a:ext>
            </a:extLst>
          </p:cNvPr>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F13BCC1E-D52E-9FFB-70A3-4ACAE769FDF0}"/>
              </a:ext>
            </a:extLst>
          </p:cNvPr>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a:extLst>
              <a:ext uri="{FF2B5EF4-FFF2-40B4-BE49-F238E27FC236}">
                <a16:creationId xmlns:a16="http://schemas.microsoft.com/office/drawing/2014/main" id="{8F3ABE81-B100-025F-CD8E-AACAE8E737A2}"/>
              </a:ext>
            </a:extLst>
          </p:cNvPr>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a:extLst>
              <a:ext uri="{FF2B5EF4-FFF2-40B4-BE49-F238E27FC236}">
                <a16:creationId xmlns:a16="http://schemas.microsoft.com/office/drawing/2014/main" id="{6DAC7DCB-E718-AA2E-695A-78C8EF3C03F1}"/>
              </a:ext>
            </a:extLst>
          </p:cNvPr>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720F4102-9C8A-9403-C523-2ECD2D6D96E4}"/>
              </a:ext>
            </a:extLst>
          </p:cNvPr>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A9B42734-8536-FF07-AEA9-122271D3E9F4}"/>
              </a:ext>
            </a:extLst>
          </p:cNvPr>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a:extLst>
              <a:ext uri="{FF2B5EF4-FFF2-40B4-BE49-F238E27FC236}">
                <a16:creationId xmlns:a16="http://schemas.microsoft.com/office/drawing/2014/main" id="{4C699933-7883-077B-3305-3BF68AEFCAF2}"/>
              </a:ext>
            </a:extLst>
          </p:cNvPr>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a:extLst>
              <a:ext uri="{FF2B5EF4-FFF2-40B4-BE49-F238E27FC236}">
                <a16:creationId xmlns:a16="http://schemas.microsoft.com/office/drawing/2014/main" id="{D039FD97-AC95-0FA6-0D81-96A6D265BAED}"/>
              </a:ext>
            </a:extLst>
          </p:cNvPr>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a:extLst>
              <a:ext uri="{FF2B5EF4-FFF2-40B4-BE49-F238E27FC236}">
                <a16:creationId xmlns:a16="http://schemas.microsoft.com/office/drawing/2014/main" id="{849818EE-3BFE-3DE9-C3DF-D81CFE06EE55}"/>
              </a:ext>
            </a:extLst>
          </p:cNvPr>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a:extLst>
              <a:ext uri="{FF2B5EF4-FFF2-40B4-BE49-F238E27FC236}">
                <a16:creationId xmlns:a16="http://schemas.microsoft.com/office/drawing/2014/main" id="{BB027C8E-4DE0-D042-CA17-8B31124FD6A0}"/>
              </a:ext>
            </a:extLst>
          </p:cNvPr>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a:extLst>
              <a:ext uri="{FF2B5EF4-FFF2-40B4-BE49-F238E27FC236}">
                <a16:creationId xmlns:a16="http://schemas.microsoft.com/office/drawing/2014/main" id="{5EE26071-2F1A-420B-609C-EC8AB7029EA5}"/>
              </a:ext>
            </a:extLst>
          </p:cNvPr>
          <p:cNvSpPr txBox="1"/>
          <p:nvPr/>
        </p:nvSpPr>
        <p:spPr>
          <a:xfrm>
            <a:off x="1583915" y="3496612"/>
            <a:ext cx="15120169" cy="1174168"/>
          </a:xfrm>
          <a:prstGeom prst="rect">
            <a:avLst/>
          </a:prstGeom>
        </p:spPr>
        <p:txBody>
          <a:bodyPr lIns="0" tIns="0" rIns="0" bIns="0" rtlCol="0" anchor="t">
            <a:spAutoFit/>
          </a:bodyPr>
          <a:lstStyle/>
          <a:p>
            <a:pPr algn="ctr">
              <a:lnSpc>
                <a:spcPts val="9000"/>
              </a:lnSpc>
            </a:pPr>
            <a:r>
              <a:rPr lang="en-PH" sz="9600" b="1" dirty="0">
                <a:ln w="6600">
                  <a:solidFill>
                    <a:schemeClr val="accent2"/>
                  </a:solidFill>
                  <a:prstDash val="solid"/>
                </a:ln>
                <a:solidFill>
                  <a:srgbClr val="FFFFFF"/>
                </a:solidFill>
                <a:effectLst>
                  <a:outerShdw dist="38100" dir="2700000" algn="tl" rotWithShape="0">
                    <a:schemeClr val="accent2"/>
                  </a:outerShdw>
                </a:effectLst>
              </a:rPr>
              <a:t>POLITICAL RELEVANCE</a:t>
            </a:r>
            <a:endParaRPr lang="en-US" sz="90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extLst>
      <p:ext uri="{BB962C8B-B14F-4D97-AF65-F5344CB8AC3E}">
        <p14:creationId xmlns:p14="http://schemas.microsoft.com/office/powerpoint/2010/main" val="67136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TextBox 2"/>
          <p:cNvSpPr txBox="1"/>
          <p:nvPr/>
        </p:nvSpPr>
        <p:spPr>
          <a:xfrm>
            <a:off x="457200" y="310919"/>
            <a:ext cx="17145000" cy="8802410"/>
          </a:xfrm>
          <a:prstGeom prst="rect">
            <a:avLst/>
          </a:prstGeom>
        </p:spPr>
        <p:txBody>
          <a:bodyPr wrap="square" lIns="0" tIns="0" rIns="0" bIns="0" rtlCol="0" anchor="t">
            <a:spAutoFit/>
          </a:bodyPr>
          <a:lstStyle/>
          <a:p>
            <a:pPr algn="ctr">
              <a:buNone/>
            </a:pPr>
            <a:r>
              <a:rPr lang="en-US" sz="5200" b="1" dirty="0">
                <a:ln w="6600">
                  <a:solidFill>
                    <a:schemeClr val="accent2"/>
                  </a:solidFill>
                  <a:prstDash val="solid"/>
                </a:ln>
                <a:solidFill>
                  <a:srgbClr val="FFFFFF"/>
                </a:solidFill>
                <a:effectLst>
                  <a:outerShdw dist="38100" dir="2700000" algn="tl" rotWithShape="0">
                    <a:schemeClr val="accent2"/>
                  </a:outerShdw>
                </a:effectLst>
              </a:rPr>
              <a:t>ASEAN</a:t>
            </a:r>
          </a:p>
          <a:p>
            <a:pPr>
              <a:buFont typeface="Arial" panose="020B0604020202020204" pitchFamily="34" charset="0"/>
              <a:buChar char="•"/>
            </a:pPr>
            <a:r>
              <a:rPr lang="en-US" sz="5200" b="1" dirty="0">
                <a:solidFill>
                  <a:srgbClr val="FFC000"/>
                </a:solidFill>
              </a:rPr>
              <a:t>Regional Stability and Diplomacy:</a:t>
            </a:r>
            <a:r>
              <a:rPr lang="en-US" sz="5200" dirty="0">
                <a:solidFill>
                  <a:srgbClr val="FFC000"/>
                </a:solidFill>
              </a:rPr>
              <a:t> </a:t>
            </a:r>
            <a:r>
              <a:rPr lang="en-US" sz="5200" dirty="0">
                <a:solidFill>
                  <a:schemeClr val="bg1">
                    <a:lumMod val="95000"/>
                  </a:schemeClr>
                </a:solidFill>
              </a:rPr>
              <a:t>ASEAN promotes </a:t>
            </a:r>
            <a:r>
              <a:rPr lang="en-US" sz="5200" b="1" dirty="0">
                <a:solidFill>
                  <a:schemeClr val="bg1">
                    <a:lumMod val="95000"/>
                  </a:schemeClr>
                </a:solidFill>
              </a:rPr>
              <a:t>peaceful conflict resolution</a:t>
            </a:r>
            <a:r>
              <a:rPr lang="en-US" sz="5200" dirty="0">
                <a:solidFill>
                  <a:schemeClr val="bg1">
                    <a:lumMod val="95000"/>
                  </a:schemeClr>
                </a:solidFill>
              </a:rPr>
              <a:t> and regional stability through dialogue forums like the </a:t>
            </a:r>
            <a:r>
              <a:rPr lang="en-US" sz="5200" b="1" dirty="0">
                <a:solidFill>
                  <a:schemeClr val="bg1">
                    <a:lumMod val="95000"/>
                  </a:schemeClr>
                </a:solidFill>
              </a:rPr>
              <a:t>ASEAN Regional Forum (ARF)</a:t>
            </a:r>
            <a:r>
              <a:rPr lang="en-US" sz="5200" dirty="0">
                <a:solidFill>
                  <a:schemeClr val="bg1">
                    <a:lumMod val="95000"/>
                  </a:schemeClr>
                </a:solidFill>
              </a:rPr>
              <a:t> and </a:t>
            </a:r>
            <a:r>
              <a:rPr lang="en-US" sz="5200" b="1" dirty="0">
                <a:solidFill>
                  <a:schemeClr val="bg1">
                    <a:lumMod val="95000"/>
                  </a:schemeClr>
                </a:solidFill>
              </a:rPr>
              <a:t>ASEAN Plus Three</a:t>
            </a:r>
            <a:r>
              <a:rPr lang="en-US" sz="5200" dirty="0">
                <a:solidFill>
                  <a:schemeClr val="bg1">
                    <a:lumMod val="95000"/>
                  </a:schemeClr>
                </a:solidFill>
              </a:rPr>
              <a:t>.</a:t>
            </a:r>
          </a:p>
          <a:p>
            <a:pPr>
              <a:buFont typeface="Arial" panose="020B0604020202020204" pitchFamily="34" charset="0"/>
              <a:buChar char="•"/>
            </a:pPr>
            <a:r>
              <a:rPr lang="en-US" sz="5200" b="1" dirty="0">
                <a:solidFill>
                  <a:srgbClr val="FFC000"/>
                </a:solidFill>
              </a:rPr>
              <a:t>Geopolitical Influence:</a:t>
            </a:r>
            <a:r>
              <a:rPr lang="en-US" sz="5200" dirty="0">
                <a:solidFill>
                  <a:srgbClr val="FFC000"/>
                </a:solidFill>
              </a:rPr>
              <a:t> </a:t>
            </a:r>
            <a:r>
              <a:rPr lang="en-US" sz="5200" dirty="0">
                <a:solidFill>
                  <a:schemeClr val="bg1">
                    <a:lumMod val="95000"/>
                  </a:schemeClr>
                </a:solidFill>
              </a:rPr>
              <a:t>ASEAN plays a strategic role in </a:t>
            </a:r>
            <a:r>
              <a:rPr lang="en-US" sz="5200" b="1" dirty="0">
                <a:solidFill>
                  <a:schemeClr val="bg1">
                    <a:lumMod val="95000"/>
                  </a:schemeClr>
                </a:solidFill>
              </a:rPr>
              <a:t>Asia-Pacific diplomacy</a:t>
            </a:r>
            <a:r>
              <a:rPr lang="en-US" sz="5200" dirty="0">
                <a:solidFill>
                  <a:schemeClr val="bg1">
                    <a:lumMod val="95000"/>
                  </a:schemeClr>
                </a:solidFill>
              </a:rPr>
              <a:t>, balancing relations between global powers like China and the US.</a:t>
            </a:r>
          </a:p>
          <a:p>
            <a:pPr>
              <a:buFont typeface="Arial" panose="020B0604020202020204" pitchFamily="34" charset="0"/>
              <a:buChar char="•"/>
            </a:pPr>
            <a:r>
              <a:rPr lang="en-US" sz="5200" b="1" dirty="0">
                <a:solidFill>
                  <a:srgbClr val="FFC000"/>
                </a:solidFill>
              </a:rPr>
              <a:t>Advocacy for Multilateralism:</a:t>
            </a:r>
            <a:r>
              <a:rPr lang="en-US" sz="5200" dirty="0">
                <a:solidFill>
                  <a:srgbClr val="FFC000"/>
                </a:solidFill>
              </a:rPr>
              <a:t> </a:t>
            </a:r>
            <a:r>
              <a:rPr lang="en-US" sz="5200" dirty="0">
                <a:solidFill>
                  <a:schemeClr val="bg1">
                    <a:lumMod val="95000"/>
                  </a:schemeClr>
                </a:solidFill>
              </a:rPr>
              <a:t>ASEAN nations advocate for </a:t>
            </a:r>
            <a:r>
              <a:rPr lang="en-US" sz="5200" b="1" dirty="0">
                <a:solidFill>
                  <a:schemeClr val="bg1">
                    <a:lumMod val="95000"/>
                  </a:schemeClr>
                </a:solidFill>
              </a:rPr>
              <a:t>multilateral cooperation</a:t>
            </a:r>
            <a:r>
              <a:rPr lang="en-US" sz="5200" dirty="0">
                <a:solidFill>
                  <a:schemeClr val="bg1">
                    <a:lumMod val="95000"/>
                  </a:schemeClr>
                </a:solidFill>
              </a:rPr>
              <a:t>, addressing regional issues such as the South China Sea dispute, human rights, and climate change.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TextBox 2"/>
          <p:cNvSpPr txBox="1"/>
          <p:nvPr/>
        </p:nvSpPr>
        <p:spPr>
          <a:xfrm>
            <a:off x="540939" y="495300"/>
            <a:ext cx="17206121" cy="8833187"/>
          </a:xfrm>
          <a:prstGeom prst="rect">
            <a:avLst/>
          </a:prstGeom>
        </p:spPr>
        <p:txBody>
          <a:bodyPr wrap="square" lIns="0" tIns="0" rIns="0" bIns="0" rtlCol="0" anchor="t">
            <a:spAutoFit/>
          </a:bodyPr>
          <a:lstStyle/>
          <a:p>
            <a:pPr algn="ctr">
              <a:buNone/>
            </a:pPr>
            <a:r>
              <a:rPr lang="en-US" sz="5400" b="1" dirty="0">
                <a:ln w="22225">
                  <a:solidFill>
                    <a:schemeClr val="accent2"/>
                  </a:solidFill>
                  <a:prstDash val="solid"/>
                </a:ln>
                <a:solidFill>
                  <a:schemeClr val="accent2">
                    <a:lumMod val="40000"/>
                    <a:lumOff val="60000"/>
                  </a:schemeClr>
                </a:solidFill>
              </a:rPr>
              <a:t>Latin America</a:t>
            </a:r>
          </a:p>
          <a:p>
            <a:pPr algn="just">
              <a:buFont typeface="Arial" panose="020B0604020202020204" pitchFamily="34" charset="0"/>
              <a:buChar char="•"/>
            </a:pPr>
            <a:r>
              <a:rPr lang="en-US" sz="5200" b="1" dirty="0">
                <a:solidFill>
                  <a:srgbClr val="FFC000"/>
                </a:solidFill>
              </a:rPr>
              <a:t>Political Influence in Global Affairs:</a:t>
            </a:r>
            <a:r>
              <a:rPr lang="en-US" sz="5200" dirty="0">
                <a:solidFill>
                  <a:srgbClr val="FFC000"/>
                </a:solidFill>
              </a:rPr>
              <a:t> </a:t>
            </a:r>
            <a:r>
              <a:rPr lang="en-US" sz="5200" dirty="0">
                <a:solidFill>
                  <a:schemeClr val="bg1">
                    <a:lumMod val="95000"/>
                  </a:schemeClr>
                </a:solidFill>
              </a:rPr>
              <a:t>Latin American countries play a key role in </a:t>
            </a:r>
            <a:r>
              <a:rPr lang="en-US" sz="5200" b="1" dirty="0">
                <a:solidFill>
                  <a:schemeClr val="bg1">
                    <a:lumMod val="95000"/>
                  </a:schemeClr>
                </a:solidFill>
              </a:rPr>
              <a:t>international organizations</a:t>
            </a:r>
            <a:r>
              <a:rPr lang="en-US" sz="5200" dirty="0">
                <a:solidFill>
                  <a:schemeClr val="bg1">
                    <a:lumMod val="95000"/>
                  </a:schemeClr>
                </a:solidFill>
              </a:rPr>
              <a:t> like the </a:t>
            </a:r>
            <a:r>
              <a:rPr lang="en-US" sz="5200" b="1" dirty="0">
                <a:solidFill>
                  <a:schemeClr val="bg1">
                    <a:lumMod val="95000"/>
                  </a:schemeClr>
                </a:solidFill>
              </a:rPr>
              <a:t>United Nations (UN)</a:t>
            </a:r>
            <a:r>
              <a:rPr lang="en-US" sz="5200" dirty="0">
                <a:solidFill>
                  <a:schemeClr val="bg1">
                    <a:lumMod val="95000"/>
                  </a:schemeClr>
                </a:solidFill>
              </a:rPr>
              <a:t> and </a:t>
            </a:r>
            <a:r>
              <a:rPr lang="en-US" sz="5200" b="1" dirty="0">
                <a:solidFill>
                  <a:schemeClr val="bg1">
                    <a:lumMod val="95000"/>
                  </a:schemeClr>
                </a:solidFill>
              </a:rPr>
              <a:t>Organization of American States (OAS)</a:t>
            </a:r>
            <a:r>
              <a:rPr lang="en-US" sz="5200" dirty="0">
                <a:solidFill>
                  <a:schemeClr val="bg1">
                    <a:lumMod val="95000"/>
                  </a:schemeClr>
                </a:solidFill>
              </a:rPr>
              <a:t>, addressing human rights, democracy, and environmental issues.</a:t>
            </a:r>
          </a:p>
          <a:p>
            <a:pPr algn="just">
              <a:buFont typeface="Arial" panose="020B0604020202020204" pitchFamily="34" charset="0"/>
              <a:buChar char="•"/>
            </a:pPr>
            <a:r>
              <a:rPr lang="en-US" sz="5200" b="1" dirty="0">
                <a:solidFill>
                  <a:srgbClr val="FFC000"/>
                </a:solidFill>
              </a:rPr>
              <a:t>Advocacy for South-South Cooperation:</a:t>
            </a:r>
            <a:r>
              <a:rPr lang="en-US" sz="5200" dirty="0">
                <a:solidFill>
                  <a:srgbClr val="FFC000"/>
                </a:solidFill>
              </a:rPr>
              <a:t> </a:t>
            </a:r>
            <a:r>
              <a:rPr lang="en-US" sz="5200" dirty="0">
                <a:solidFill>
                  <a:schemeClr val="bg1">
                    <a:lumMod val="95000"/>
                  </a:schemeClr>
                </a:solidFill>
              </a:rPr>
              <a:t>Latin American nations collaborate with other developing regions to promote </a:t>
            </a:r>
            <a:r>
              <a:rPr lang="en-US" sz="5200" b="1" dirty="0">
                <a:solidFill>
                  <a:schemeClr val="bg1">
                    <a:lumMod val="95000"/>
                  </a:schemeClr>
                </a:solidFill>
              </a:rPr>
              <a:t>fair trade practices and economic independence</a:t>
            </a:r>
            <a:r>
              <a:rPr lang="en-US" sz="5200" dirty="0">
                <a:solidFill>
                  <a:schemeClr val="bg1">
                    <a:lumMod val="95000"/>
                  </a:schemeClr>
                </a:solidFill>
              </a:rPr>
              <a:t>.</a:t>
            </a:r>
          </a:p>
          <a:p>
            <a:pPr algn="just">
              <a:buFont typeface="Arial" panose="020B0604020202020204" pitchFamily="34" charset="0"/>
              <a:buChar char="•"/>
            </a:pPr>
            <a:r>
              <a:rPr lang="en-US" sz="5200" b="1" dirty="0">
                <a:solidFill>
                  <a:srgbClr val="FFC000"/>
                </a:solidFill>
              </a:rPr>
              <a:t>Political Instability and Reform:</a:t>
            </a:r>
            <a:r>
              <a:rPr lang="en-US" sz="5200" dirty="0">
                <a:solidFill>
                  <a:srgbClr val="FFC000"/>
                </a:solidFill>
              </a:rPr>
              <a:t> </a:t>
            </a:r>
            <a:r>
              <a:rPr lang="en-US" sz="5200" dirty="0">
                <a:solidFill>
                  <a:schemeClr val="bg1">
                    <a:lumMod val="95000"/>
                  </a:schemeClr>
                </a:solidFill>
              </a:rPr>
              <a:t>The region’s frequent </a:t>
            </a:r>
            <a:r>
              <a:rPr lang="en-US" sz="5200" b="1" dirty="0">
                <a:solidFill>
                  <a:schemeClr val="bg1">
                    <a:lumMod val="95000"/>
                  </a:schemeClr>
                </a:solidFill>
              </a:rPr>
              <a:t>political shifts</a:t>
            </a:r>
            <a:r>
              <a:rPr lang="en-US" sz="5200" dirty="0">
                <a:solidFill>
                  <a:schemeClr val="bg1">
                    <a:lumMod val="95000"/>
                  </a:schemeClr>
                </a:solidFill>
              </a:rPr>
              <a:t> (e.g., populist movements, corruption scandals) impact global markets and diplomatic relations.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02C0301C-F732-EA5F-7372-37DE635D7E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CE42630-6ACB-B5A5-9F5E-3552DEAE0C76}"/>
              </a:ext>
            </a:extLst>
          </p:cNvPr>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a:extLst>
              <a:ext uri="{FF2B5EF4-FFF2-40B4-BE49-F238E27FC236}">
                <a16:creationId xmlns:a16="http://schemas.microsoft.com/office/drawing/2014/main" id="{402A7E6D-8325-8B9B-0E4C-AA1E4EA50612}"/>
              </a:ext>
            </a:extLst>
          </p:cNvPr>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460F719-CF74-8FA9-EC9B-1170F2D9D411}"/>
              </a:ext>
            </a:extLst>
          </p:cNvPr>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a:extLst>
              <a:ext uri="{FF2B5EF4-FFF2-40B4-BE49-F238E27FC236}">
                <a16:creationId xmlns:a16="http://schemas.microsoft.com/office/drawing/2014/main" id="{21425288-F168-A307-8C82-D739A7ED043C}"/>
              </a:ext>
            </a:extLst>
          </p:cNvPr>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a:extLst>
              <a:ext uri="{FF2B5EF4-FFF2-40B4-BE49-F238E27FC236}">
                <a16:creationId xmlns:a16="http://schemas.microsoft.com/office/drawing/2014/main" id="{881DC285-A19F-8F28-C6A6-84736ACEC36F}"/>
              </a:ext>
            </a:extLst>
          </p:cNvPr>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a:extLst>
              <a:ext uri="{FF2B5EF4-FFF2-40B4-BE49-F238E27FC236}">
                <a16:creationId xmlns:a16="http://schemas.microsoft.com/office/drawing/2014/main" id="{AE4D3F7D-85CD-9122-EF7C-CD15CE44ACBD}"/>
              </a:ext>
            </a:extLst>
          </p:cNvPr>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a:extLst>
              <a:ext uri="{FF2B5EF4-FFF2-40B4-BE49-F238E27FC236}">
                <a16:creationId xmlns:a16="http://schemas.microsoft.com/office/drawing/2014/main" id="{D7765350-FC2D-A1BB-ED6E-7D77C12FB71C}"/>
              </a:ext>
            </a:extLst>
          </p:cNvPr>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7EEDD79D-FF4D-AA2C-0255-448E39872683}"/>
              </a:ext>
            </a:extLst>
          </p:cNvPr>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6CBB4CB7-12C4-90D1-5670-E79033D6E63D}"/>
              </a:ext>
            </a:extLst>
          </p:cNvPr>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a:extLst>
              <a:ext uri="{FF2B5EF4-FFF2-40B4-BE49-F238E27FC236}">
                <a16:creationId xmlns:a16="http://schemas.microsoft.com/office/drawing/2014/main" id="{CF22F487-6A1F-B982-B585-684A9E3D5D2E}"/>
              </a:ext>
            </a:extLst>
          </p:cNvPr>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a:extLst>
              <a:ext uri="{FF2B5EF4-FFF2-40B4-BE49-F238E27FC236}">
                <a16:creationId xmlns:a16="http://schemas.microsoft.com/office/drawing/2014/main" id="{CE8C8D84-D5EC-108B-198A-02BCD615619A}"/>
              </a:ext>
            </a:extLst>
          </p:cNvPr>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2CB0BB42-FCCA-D7D6-3B1D-9707F67C74BB}"/>
              </a:ext>
            </a:extLst>
          </p:cNvPr>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038CD38A-EE6E-3C68-5963-07FD3A92CB29}"/>
              </a:ext>
            </a:extLst>
          </p:cNvPr>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a:extLst>
              <a:ext uri="{FF2B5EF4-FFF2-40B4-BE49-F238E27FC236}">
                <a16:creationId xmlns:a16="http://schemas.microsoft.com/office/drawing/2014/main" id="{DD4305D2-1692-554A-1A8F-DA71AAE2C602}"/>
              </a:ext>
            </a:extLst>
          </p:cNvPr>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a:extLst>
              <a:ext uri="{FF2B5EF4-FFF2-40B4-BE49-F238E27FC236}">
                <a16:creationId xmlns:a16="http://schemas.microsoft.com/office/drawing/2014/main" id="{2123D045-0A3E-C03B-EECC-C4653668BC13}"/>
              </a:ext>
            </a:extLst>
          </p:cNvPr>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a:extLst>
              <a:ext uri="{FF2B5EF4-FFF2-40B4-BE49-F238E27FC236}">
                <a16:creationId xmlns:a16="http://schemas.microsoft.com/office/drawing/2014/main" id="{473F7812-5448-5966-B93F-A6395ACCF543}"/>
              </a:ext>
            </a:extLst>
          </p:cNvPr>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a:extLst>
              <a:ext uri="{FF2B5EF4-FFF2-40B4-BE49-F238E27FC236}">
                <a16:creationId xmlns:a16="http://schemas.microsoft.com/office/drawing/2014/main" id="{852F4F2A-C354-25F3-551E-29FA12C4E217}"/>
              </a:ext>
            </a:extLst>
          </p:cNvPr>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a:extLst>
              <a:ext uri="{FF2B5EF4-FFF2-40B4-BE49-F238E27FC236}">
                <a16:creationId xmlns:a16="http://schemas.microsoft.com/office/drawing/2014/main" id="{7A3A74E2-27FF-2677-E702-5A8B5E370975}"/>
              </a:ext>
            </a:extLst>
          </p:cNvPr>
          <p:cNvSpPr txBox="1"/>
          <p:nvPr/>
        </p:nvSpPr>
        <p:spPr>
          <a:xfrm>
            <a:off x="1583915" y="2466564"/>
            <a:ext cx="15120169" cy="4636654"/>
          </a:xfrm>
          <a:prstGeom prst="rect">
            <a:avLst/>
          </a:prstGeom>
        </p:spPr>
        <p:txBody>
          <a:bodyPr lIns="0" tIns="0" rIns="0" bIns="0" rtlCol="0" anchor="t">
            <a:spAutoFit/>
          </a:bodyPr>
          <a:lstStyle/>
          <a:p>
            <a:pPr algn="ctr">
              <a:lnSpc>
                <a:spcPts val="9000"/>
              </a:lnSpc>
            </a:pPr>
            <a:r>
              <a:rPr lang="en-US" sz="9600" dirty="0"/>
              <a:t> </a:t>
            </a:r>
            <a:r>
              <a:rPr lang="en-US" sz="9600" b="1" dirty="0">
                <a:ln w="6600">
                  <a:solidFill>
                    <a:schemeClr val="accent2"/>
                  </a:solidFill>
                  <a:prstDash val="solid"/>
                </a:ln>
                <a:solidFill>
                  <a:srgbClr val="FFFFFF"/>
                </a:solidFill>
                <a:effectLst>
                  <a:outerShdw dist="38100" dir="2700000" algn="tl" rotWithShape="0">
                    <a:schemeClr val="accent2"/>
                  </a:outerShdw>
                </a:effectLst>
              </a:rPr>
              <a:t>Suggestions to Devise Measures/Policies to Narrow the Gap Between the Rich and Poor</a:t>
            </a:r>
            <a:endParaRPr lang="en-US" sz="90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extLst>
      <p:ext uri="{BB962C8B-B14F-4D97-AF65-F5344CB8AC3E}">
        <p14:creationId xmlns:p14="http://schemas.microsoft.com/office/powerpoint/2010/main" val="4268431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p:cNvGrpSpPr/>
        <p:nvPr/>
      </p:nvGrpSpPr>
      <p:grpSpPr>
        <a:xfrm>
          <a:off x="0" y="0"/>
          <a:ext cx="0" cy="0"/>
          <a:chOff x="0" y="0"/>
          <a:chExt cx="0" cy="0"/>
        </a:xfrm>
      </p:grpSpPr>
      <p:sp>
        <p:nvSpPr>
          <p:cNvPr id="2" name="TextBox 2"/>
          <p:cNvSpPr txBox="1"/>
          <p:nvPr/>
        </p:nvSpPr>
        <p:spPr>
          <a:xfrm>
            <a:off x="533400" y="403741"/>
            <a:ext cx="17221200" cy="9479518"/>
          </a:xfrm>
          <a:prstGeom prst="rect">
            <a:avLst/>
          </a:prstGeom>
        </p:spPr>
        <p:txBody>
          <a:bodyPr wrap="square" lIns="0" tIns="0" rIns="0" bIns="0" rtlCol="0" anchor="t">
            <a:spAutoFit/>
          </a:bodyPr>
          <a:lstStyle/>
          <a:p>
            <a:pPr>
              <a:buNone/>
            </a:pPr>
            <a:r>
              <a:rPr lang="en-US" sz="3500" b="1" dirty="0"/>
              <a:t> </a:t>
            </a:r>
            <a:r>
              <a:rPr lang="en-US" sz="5600" b="1" dirty="0">
                <a:ln w="6600">
                  <a:solidFill>
                    <a:schemeClr val="accent2"/>
                  </a:solidFill>
                  <a:prstDash val="solid"/>
                </a:ln>
                <a:solidFill>
                  <a:srgbClr val="FFFFFF"/>
                </a:solidFill>
                <a:effectLst>
                  <a:outerShdw dist="38100" dir="2700000" algn="tl" rotWithShape="0">
                    <a:schemeClr val="accent2"/>
                  </a:outerShdw>
                </a:effectLst>
              </a:rPr>
              <a:t>Implement Progressive Taxation Policies</a:t>
            </a:r>
          </a:p>
          <a:p>
            <a:r>
              <a:rPr lang="en-US" sz="5600" b="1" dirty="0">
                <a:solidFill>
                  <a:schemeClr val="bg1">
                    <a:lumMod val="95000"/>
                  </a:schemeClr>
                </a:solidFill>
              </a:rPr>
              <a:t>1.Increase taxes on the wealthy</a:t>
            </a:r>
            <a:r>
              <a:rPr lang="en-US" sz="5600" dirty="0">
                <a:solidFill>
                  <a:schemeClr val="bg1">
                    <a:lumMod val="95000"/>
                  </a:schemeClr>
                </a:solidFill>
              </a:rPr>
              <a:t> through a </a:t>
            </a:r>
            <a:r>
              <a:rPr lang="en-US" sz="5600" b="1" dirty="0">
                <a:solidFill>
                  <a:schemeClr val="bg1">
                    <a:lumMod val="95000"/>
                  </a:schemeClr>
                </a:solidFill>
              </a:rPr>
              <a:t>progressive income tax system</a:t>
            </a:r>
            <a:r>
              <a:rPr lang="en-US" sz="5600" dirty="0">
                <a:solidFill>
                  <a:schemeClr val="bg1">
                    <a:lumMod val="95000"/>
                  </a:schemeClr>
                </a:solidFill>
              </a:rPr>
              <a:t>, where higher earners pay a larger percentage of their income.</a:t>
            </a:r>
          </a:p>
          <a:p>
            <a:endParaRPr lang="en-US" sz="5600" dirty="0">
              <a:solidFill>
                <a:schemeClr val="bg1">
                  <a:lumMod val="95000"/>
                </a:schemeClr>
              </a:solidFill>
            </a:endParaRPr>
          </a:p>
          <a:p>
            <a:r>
              <a:rPr lang="en-US" sz="5600" dirty="0">
                <a:solidFill>
                  <a:schemeClr val="bg1">
                    <a:lumMod val="95000"/>
                  </a:schemeClr>
                </a:solidFill>
              </a:rPr>
              <a:t>2.Enforce </a:t>
            </a:r>
            <a:r>
              <a:rPr lang="en-US" sz="5600" b="1" dirty="0">
                <a:solidFill>
                  <a:schemeClr val="bg1">
                    <a:lumMod val="95000"/>
                  </a:schemeClr>
                </a:solidFill>
              </a:rPr>
              <a:t>capital gains and inheritance taxes</a:t>
            </a:r>
            <a:r>
              <a:rPr lang="en-US" sz="5600" dirty="0">
                <a:solidFill>
                  <a:schemeClr val="bg1">
                    <a:lumMod val="95000"/>
                  </a:schemeClr>
                </a:solidFill>
              </a:rPr>
              <a:t> to prevent the concentration of wealth across generations.</a:t>
            </a:r>
          </a:p>
          <a:p>
            <a:endParaRPr lang="en-US" sz="5600" dirty="0">
              <a:solidFill>
                <a:schemeClr val="bg1">
                  <a:lumMod val="95000"/>
                </a:schemeClr>
              </a:solidFill>
            </a:endParaRPr>
          </a:p>
          <a:p>
            <a:r>
              <a:rPr lang="en-US" sz="5600" dirty="0">
                <a:solidFill>
                  <a:schemeClr val="bg1">
                    <a:lumMod val="95000"/>
                  </a:schemeClr>
                </a:solidFill>
              </a:rPr>
              <a:t>3.Use the revenue generated from these taxes to </a:t>
            </a:r>
            <a:r>
              <a:rPr lang="en-US" sz="5600" b="1" dirty="0">
                <a:solidFill>
                  <a:schemeClr val="bg1">
                    <a:lumMod val="95000"/>
                  </a:schemeClr>
                </a:solidFill>
              </a:rPr>
              <a:t>fund social welfare programs</a:t>
            </a:r>
            <a:r>
              <a:rPr lang="en-US" sz="5600" dirty="0">
                <a:solidFill>
                  <a:schemeClr val="bg1">
                    <a:lumMod val="95000"/>
                  </a:schemeClr>
                </a:solidFill>
              </a:rPr>
              <a:t> (e.g., healthcare, education, and housing assistance) that benefit low-income groups.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E993FF04-3C6E-6102-4D64-9C46C3ACB46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A8AD91D-BDB0-21E9-12E3-01809AF80A76}"/>
              </a:ext>
            </a:extLst>
          </p:cNvPr>
          <p:cNvSpPr txBox="1"/>
          <p:nvPr/>
        </p:nvSpPr>
        <p:spPr>
          <a:xfrm>
            <a:off x="533400" y="403741"/>
            <a:ext cx="17526000" cy="9325630"/>
          </a:xfrm>
          <a:prstGeom prst="rect">
            <a:avLst/>
          </a:prstGeom>
        </p:spPr>
        <p:txBody>
          <a:bodyPr wrap="square" lIns="0" tIns="0" rIns="0" bIns="0" rtlCol="0" anchor="t">
            <a:spAutoFit/>
          </a:bodyPr>
          <a:lstStyle/>
          <a:p>
            <a:pPr>
              <a:buNone/>
            </a:pPr>
            <a:r>
              <a:rPr lang="en-US" sz="3500" b="1" dirty="0"/>
              <a:t> </a:t>
            </a:r>
            <a:r>
              <a:rPr lang="en-US" sz="6000" b="1" dirty="0">
                <a:ln w="6600">
                  <a:solidFill>
                    <a:schemeClr val="accent2"/>
                  </a:solidFill>
                  <a:prstDash val="solid"/>
                </a:ln>
                <a:solidFill>
                  <a:srgbClr val="FFFFFF"/>
                </a:solidFill>
                <a:effectLst>
                  <a:outerShdw dist="38100" dir="2700000" algn="tl" rotWithShape="0">
                    <a:schemeClr val="accent2"/>
                  </a:outerShdw>
                </a:effectLst>
              </a:rPr>
              <a:t>Improve Access to Quality Education and Skills Development</a:t>
            </a:r>
          </a:p>
          <a:p>
            <a:r>
              <a:rPr lang="en-US" sz="5400" dirty="0">
                <a:solidFill>
                  <a:schemeClr val="bg1">
                    <a:lumMod val="95000"/>
                  </a:schemeClr>
                </a:solidFill>
              </a:rPr>
              <a:t>1.Invest in </a:t>
            </a:r>
            <a:r>
              <a:rPr lang="en-US" sz="5400" b="1" dirty="0">
                <a:solidFill>
                  <a:schemeClr val="bg1">
                    <a:lumMod val="95000"/>
                  </a:schemeClr>
                </a:solidFill>
              </a:rPr>
              <a:t>free or subsidized education</a:t>
            </a:r>
            <a:r>
              <a:rPr lang="en-US" sz="5400" dirty="0">
                <a:solidFill>
                  <a:schemeClr val="bg1">
                    <a:lumMod val="95000"/>
                  </a:schemeClr>
                </a:solidFill>
              </a:rPr>
              <a:t> for low-income families to promote equal opportunities.</a:t>
            </a:r>
          </a:p>
          <a:p>
            <a:endParaRPr lang="en-US" sz="5400" dirty="0">
              <a:solidFill>
                <a:schemeClr val="bg1">
                  <a:lumMod val="95000"/>
                </a:schemeClr>
              </a:solidFill>
            </a:endParaRPr>
          </a:p>
          <a:p>
            <a:r>
              <a:rPr lang="en-US" sz="5400" dirty="0">
                <a:solidFill>
                  <a:schemeClr val="bg1">
                    <a:lumMod val="95000"/>
                  </a:schemeClr>
                </a:solidFill>
              </a:rPr>
              <a:t>2.Develop </a:t>
            </a:r>
            <a:r>
              <a:rPr lang="en-US" sz="5400" b="1" dirty="0">
                <a:solidFill>
                  <a:schemeClr val="bg1">
                    <a:lumMod val="95000"/>
                  </a:schemeClr>
                </a:solidFill>
              </a:rPr>
              <a:t>vocational and technical training programs</a:t>
            </a:r>
            <a:r>
              <a:rPr lang="en-US" sz="5400" dirty="0">
                <a:solidFill>
                  <a:schemeClr val="bg1">
                    <a:lumMod val="95000"/>
                  </a:schemeClr>
                </a:solidFill>
              </a:rPr>
              <a:t> that equip individuals with in-demand skills, increasing their employability.</a:t>
            </a:r>
          </a:p>
          <a:p>
            <a:endParaRPr lang="en-US" sz="5400" dirty="0">
              <a:solidFill>
                <a:schemeClr val="bg1">
                  <a:lumMod val="95000"/>
                </a:schemeClr>
              </a:solidFill>
            </a:endParaRPr>
          </a:p>
          <a:p>
            <a:r>
              <a:rPr lang="en-US" sz="5400" dirty="0">
                <a:solidFill>
                  <a:schemeClr val="bg1">
                    <a:lumMod val="95000"/>
                  </a:schemeClr>
                </a:solidFill>
              </a:rPr>
              <a:t>3.Provide </a:t>
            </a:r>
            <a:r>
              <a:rPr lang="en-US" sz="5400" b="1" dirty="0">
                <a:solidFill>
                  <a:schemeClr val="bg1">
                    <a:lumMod val="95000"/>
                  </a:schemeClr>
                </a:solidFill>
              </a:rPr>
              <a:t>scholarships and financial aid</a:t>
            </a:r>
            <a:r>
              <a:rPr lang="en-US" sz="5400" dirty="0">
                <a:solidFill>
                  <a:schemeClr val="bg1">
                    <a:lumMod val="95000"/>
                  </a:schemeClr>
                </a:solidFill>
              </a:rPr>
              <a:t> to students from disadvantaged backgrounds to reduce the education gap.</a:t>
            </a:r>
          </a:p>
        </p:txBody>
      </p:sp>
    </p:spTree>
    <p:extLst>
      <p:ext uri="{BB962C8B-B14F-4D97-AF65-F5344CB8AC3E}">
        <p14:creationId xmlns:p14="http://schemas.microsoft.com/office/powerpoint/2010/main" val="51572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7E4B1A72-F54C-E4D4-8302-BAD040ED4E0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D2C57CB-FB64-703D-FCCB-6F7D14F56166}"/>
              </a:ext>
            </a:extLst>
          </p:cNvPr>
          <p:cNvSpPr txBox="1"/>
          <p:nvPr/>
        </p:nvSpPr>
        <p:spPr>
          <a:xfrm>
            <a:off x="533400" y="723900"/>
            <a:ext cx="17221200" cy="8309967"/>
          </a:xfrm>
          <a:prstGeom prst="rect">
            <a:avLst/>
          </a:prstGeom>
        </p:spPr>
        <p:txBody>
          <a:bodyPr wrap="square" lIns="0" tIns="0" rIns="0" bIns="0" rtlCol="0" anchor="t">
            <a:spAutoFit/>
          </a:bodyPr>
          <a:lstStyle/>
          <a:p>
            <a:pPr>
              <a:buNone/>
            </a:pPr>
            <a:r>
              <a:rPr lang="en-US" sz="5400" b="1" dirty="0"/>
              <a:t> </a:t>
            </a:r>
            <a:r>
              <a:rPr lang="en-US" sz="6000" b="1" dirty="0">
                <a:ln w="6600">
                  <a:solidFill>
                    <a:schemeClr val="accent2"/>
                  </a:solidFill>
                  <a:prstDash val="solid"/>
                </a:ln>
                <a:solidFill>
                  <a:srgbClr val="FFFFFF"/>
                </a:solidFill>
                <a:effectLst>
                  <a:outerShdw dist="38100" dir="2700000" algn="tl" rotWithShape="0">
                    <a:schemeClr val="accent2"/>
                  </a:outerShdw>
                </a:effectLst>
              </a:rPr>
              <a:t>Strengthen Labor Laws and Ensure Fair Wages</a:t>
            </a:r>
          </a:p>
          <a:p>
            <a:r>
              <a:rPr lang="en-US" sz="6000" dirty="0">
                <a:solidFill>
                  <a:schemeClr val="bg1">
                    <a:lumMod val="95000"/>
                  </a:schemeClr>
                </a:solidFill>
              </a:rPr>
              <a:t>1.Enforce </a:t>
            </a:r>
            <a:r>
              <a:rPr lang="en-US" sz="6000" b="1" dirty="0">
                <a:solidFill>
                  <a:schemeClr val="bg1">
                    <a:lumMod val="95000"/>
                  </a:schemeClr>
                </a:solidFill>
              </a:rPr>
              <a:t>living wage policies</a:t>
            </a:r>
            <a:r>
              <a:rPr lang="en-US" sz="6000" dirty="0">
                <a:solidFill>
                  <a:schemeClr val="bg1">
                    <a:lumMod val="95000"/>
                  </a:schemeClr>
                </a:solidFill>
              </a:rPr>
              <a:t> to guarantee that all workers earn enough to meet basic needs, reducing income inequality.</a:t>
            </a:r>
          </a:p>
          <a:p>
            <a:r>
              <a:rPr lang="en-US" sz="6000" dirty="0">
                <a:solidFill>
                  <a:schemeClr val="bg1">
                    <a:lumMod val="95000"/>
                  </a:schemeClr>
                </a:solidFill>
              </a:rPr>
              <a:t>2.Promote </a:t>
            </a:r>
            <a:r>
              <a:rPr lang="en-US" sz="6000" b="1" dirty="0">
                <a:solidFill>
                  <a:schemeClr val="bg1">
                    <a:lumMod val="95000"/>
                  </a:schemeClr>
                </a:solidFill>
              </a:rPr>
              <a:t>equal pay regulations</a:t>
            </a:r>
            <a:r>
              <a:rPr lang="en-US" sz="6000" dirty="0">
                <a:solidFill>
                  <a:schemeClr val="bg1">
                    <a:lumMod val="95000"/>
                  </a:schemeClr>
                </a:solidFill>
              </a:rPr>
              <a:t> to prevent wage gaps based on gender, race, or ethnicity.</a:t>
            </a:r>
          </a:p>
          <a:p>
            <a:r>
              <a:rPr lang="en-US" sz="6000" dirty="0">
                <a:solidFill>
                  <a:schemeClr val="bg1">
                    <a:lumMod val="95000"/>
                  </a:schemeClr>
                </a:solidFill>
              </a:rPr>
              <a:t>3.Support </a:t>
            </a:r>
            <a:r>
              <a:rPr lang="en-US" sz="6000" b="1" dirty="0">
                <a:solidFill>
                  <a:schemeClr val="bg1">
                    <a:lumMod val="95000"/>
                  </a:schemeClr>
                </a:solidFill>
              </a:rPr>
              <a:t>union rights and collective bargaining</a:t>
            </a:r>
            <a:r>
              <a:rPr lang="en-US" sz="6000" dirty="0">
                <a:solidFill>
                  <a:schemeClr val="bg1">
                    <a:lumMod val="95000"/>
                  </a:schemeClr>
                </a:solidFill>
              </a:rPr>
              <a:t>, enabling workers to negotiate for fair wages and benefits.</a:t>
            </a:r>
          </a:p>
        </p:txBody>
      </p:sp>
    </p:spTree>
    <p:extLst>
      <p:ext uri="{BB962C8B-B14F-4D97-AF65-F5344CB8AC3E}">
        <p14:creationId xmlns:p14="http://schemas.microsoft.com/office/powerpoint/2010/main" val="2574405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8BBD94"/>
        </a:solidFill>
        <a:effectLst/>
      </p:bgPr>
    </p:bg>
    <p:spTree>
      <p:nvGrpSpPr>
        <p:cNvPr id="1" name=""/>
        <p:cNvGrpSpPr/>
        <p:nvPr/>
      </p:nvGrpSpPr>
      <p:grpSpPr>
        <a:xfrm>
          <a:off x="0" y="0"/>
          <a:ext cx="0" cy="0"/>
          <a:chOff x="0" y="0"/>
          <a:chExt cx="0" cy="0"/>
        </a:xfrm>
      </p:grpSpPr>
      <p:sp>
        <p:nvSpPr>
          <p:cNvPr id="2" name="TextBox 2"/>
          <p:cNvSpPr txBox="1"/>
          <p:nvPr/>
        </p:nvSpPr>
        <p:spPr>
          <a:xfrm>
            <a:off x="647700" y="419100"/>
            <a:ext cx="16992600" cy="8863965"/>
          </a:xfrm>
          <a:prstGeom prst="rect">
            <a:avLst/>
          </a:prstGeom>
        </p:spPr>
        <p:txBody>
          <a:bodyPr wrap="square" lIns="0" tIns="0" rIns="0" bIns="0" rtlCol="0" anchor="t">
            <a:spAutoFit/>
          </a:bodyPr>
          <a:lstStyle/>
          <a:p>
            <a:pPr algn="just">
              <a:buNone/>
            </a:pPr>
            <a:r>
              <a:rPr lang="en-US" sz="7200" b="1" dirty="0">
                <a:ln w="22225">
                  <a:solidFill>
                    <a:srgbClr val="FFFF00"/>
                  </a:solidFill>
                  <a:prstDash val="solid"/>
                </a:ln>
                <a:solidFill>
                  <a:sysClr val="windowText" lastClr="000000"/>
                </a:solidFill>
              </a:rPr>
              <a:t>WRITTEN WORK 1: Global Inequality</a:t>
            </a:r>
          </a:p>
          <a:p>
            <a:pPr algn="just"/>
            <a:r>
              <a:rPr lang="en-US" sz="7200" b="1" dirty="0">
                <a:ln w="6600">
                  <a:solidFill>
                    <a:schemeClr val="accent2"/>
                  </a:solidFill>
                  <a:prstDash val="solid"/>
                </a:ln>
                <a:solidFill>
                  <a:sysClr val="windowText" lastClr="000000"/>
                </a:solidFill>
                <a:effectLst>
                  <a:outerShdw dist="38100" dir="2700000" algn="tl" rotWithShape="0">
                    <a:schemeClr val="accent2"/>
                  </a:outerShdw>
                </a:effectLst>
              </a:rPr>
              <a:t>Instructions: </a:t>
            </a:r>
            <a:r>
              <a:rPr lang="en-US" sz="7200" dirty="0"/>
              <a:t>Choose </a:t>
            </a:r>
            <a:r>
              <a:rPr lang="en-US" sz="7200" b="1" dirty="0"/>
              <a:t>three (3)</a:t>
            </a:r>
            <a:r>
              <a:rPr lang="en-US" sz="7200" dirty="0"/>
              <a:t> of the five questions below to answer. Each answer should be </a:t>
            </a:r>
            <a:r>
              <a:rPr lang="en-US" sz="7200" b="1" dirty="0"/>
              <a:t>brief (around 100–150 words)</a:t>
            </a:r>
            <a:r>
              <a:rPr lang="en-US" sz="7200" dirty="0"/>
              <a:t> and must include at least one </a:t>
            </a:r>
            <a:r>
              <a:rPr lang="en-US" sz="7200" b="1" dirty="0"/>
              <a:t>concrete example from a real-world country or situation</a:t>
            </a:r>
            <a:r>
              <a:rPr lang="en-US" sz="7200" dirty="0"/>
              <a:t>. Focus on global issues related to </a:t>
            </a:r>
            <a:r>
              <a:rPr lang="en-US" sz="7200" b="1" dirty="0"/>
              <a:t>education, healthcare, and the economy</a:t>
            </a:r>
            <a:r>
              <a:rPr lang="en-US" sz="72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8BBD94"/>
        </a:solidFill>
        <a:effectLst/>
      </p:bgPr>
    </p:bg>
    <p:spTree>
      <p:nvGrpSpPr>
        <p:cNvPr id="1" name="">
          <a:extLst>
            <a:ext uri="{FF2B5EF4-FFF2-40B4-BE49-F238E27FC236}">
              <a16:creationId xmlns:a16="http://schemas.microsoft.com/office/drawing/2014/main" id="{88F75A5E-AFD8-0413-7415-B4996A2543A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1EC52A-960B-D8BD-E01F-542527672933}"/>
              </a:ext>
            </a:extLst>
          </p:cNvPr>
          <p:cNvSpPr txBox="1"/>
          <p:nvPr/>
        </p:nvSpPr>
        <p:spPr>
          <a:xfrm>
            <a:off x="304800" y="266700"/>
            <a:ext cx="17602200" cy="9879628"/>
          </a:xfrm>
          <a:prstGeom prst="rect">
            <a:avLst/>
          </a:prstGeom>
          <a:noFill/>
        </p:spPr>
        <p:txBody>
          <a:bodyPr wrap="square">
            <a:spAutoFit/>
          </a:bodyPr>
          <a:lstStyle/>
          <a:p>
            <a:pPr algn="just"/>
            <a:r>
              <a:rPr lang="en-US" sz="3600" b="1" dirty="0">
                <a:solidFill>
                  <a:srgbClr val="FF0000"/>
                </a:solidFill>
                <a:latin typeface="Arial Narrow" panose="020B0606020202030204" pitchFamily="34" charset="0"/>
              </a:rPr>
              <a:t>Essay Questions (Choose 3):</a:t>
            </a:r>
          </a:p>
          <a:p>
            <a:pPr algn="just"/>
            <a:r>
              <a:rPr lang="en-US" sz="4000" b="1" dirty="0">
                <a:latin typeface="Arial Narrow" panose="020B0606020202030204" pitchFamily="34" charset="0"/>
              </a:rPr>
              <a:t>1.How does access to quality education vary between wealthy and low-income countries? Support your answer with a specific example of a country or region and explain how inequality in education affects future opportunities.</a:t>
            </a:r>
          </a:p>
          <a:p>
            <a:pPr algn="just"/>
            <a:r>
              <a:rPr lang="en-US" sz="4000" b="1" dirty="0">
                <a:latin typeface="Arial Narrow" panose="020B0606020202030204" pitchFamily="34" charset="0"/>
              </a:rPr>
              <a:t>2.What are some key barriers to healthcare access in developing countries? Use an example to show how limited healthcare affects communities, especially during health crises like pandemics.</a:t>
            </a:r>
          </a:p>
          <a:p>
            <a:pPr algn="just"/>
            <a:r>
              <a:rPr lang="en-US" sz="4000" b="1" dirty="0">
                <a:latin typeface="Arial Narrow" panose="020B0606020202030204" pitchFamily="34" charset="0"/>
              </a:rPr>
              <a:t>3.In what ways does economic inequality contribute to unequal living conditions globally? Include a real-world case that highlights the gap between rich and poor populations within or between countries.</a:t>
            </a:r>
          </a:p>
          <a:p>
            <a:pPr algn="just"/>
            <a:r>
              <a:rPr lang="en-US" sz="4000" b="1" dirty="0">
                <a:latin typeface="Arial Narrow" panose="020B0606020202030204" pitchFamily="34" charset="0"/>
              </a:rPr>
              <a:t>4.How does gender inequality worsen access to education or health services in certain parts of the world? Give an example of how women or girls face additional challenges due to systemic inequalities.</a:t>
            </a:r>
          </a:p>
          <a:p>
            <a:pPr algn="just"/>
            <a:r>
              <a:rPr lang="en-US" sz="4000" b="1" dirty="0">
                <a:latin typeface="Arial Narrow" panose="020B0606020202030204" pitchFamily="34" charset="0"/>
              </a:rPr>
              <a:t>5.What role do global organizations (like the UN, WHO, or World Bank) play in reducing inequality? Provide an example of a project or initiative that has tried to address one of these global issues.</a:t>
            </a:r>
            <a:endParaRPr lang="en-PH" sz="4000" b="1" dirty="0">
              <a:latin typeface="Arial Narrow" panose="020B0606020202030204" pitchFamily="34" charset="0"/>
            </a:endParaRPr>
          </a:p>
        </p:txBody>
      </p:sp>
    </p:spTree>
    <p:extLst>
      <p:ext uri="{BB962C8B-B14F-4D97-AF65-F5344CB8AC3E}">
        <p14:creationId xmlns:p14="http://schemas.microsoft.com/office/powerpoint/2010/main" val="1645954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2F25"/>
        </a:solidFill>
        <a:effectLst/>
      </p:bgPr>
    </p:bg>
    <p:spTree>
      <p:nvGrpSpPr>
        <p:cNvPr id="1" name="">
          <a:extLst>
            <a:ext uri="{FF2B5EF4-FFF2-40B4-BE49-F238E27FC236}">
              <a16:creationId xmlns:a16="http://schemas.microsoft.com/office/drawing/2014/main" id="{AF034516-8F04-7214-2CA0-AEE9C97A19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6BA17A-68D6-394C-E0BC-3C220EF0671F}"/>
              </a:ext>
            </a:extLst>
          </p:cNvPr>
          <p:cNvSpPr/>
          <p:nvPr/>
        </p:nvSpPr>
        <p:spPr>
          <a:xfrm rot="-10800000">
            <a:off x="-304801" y="4996598"/>
            <a:ext cx="6677041" cy="5290402"/>
          </a:xfrm>
          <a:custGeom>
            <a:avLst/>
            <a:gdLst/>
            <a:ahLst/>
            <a:cxnLst/>
            <a:rect l="l" t="t" r="r" b="b"/>
            <a:pathLst>
              <a:path w="7766151" h="6834213">
                <a:moveTo>
                  <a:pt x="0" y="0"/>
                </a:moveTo>
                <a:lnTo>
                  <a:pt x="7766151" y="0"/>
                </a:lnTo>
                <a:lnTo>
                  <a:pt x="7766151" y="6834214"/>
                </a:lnTo>
                <a:lnTo>
                  <a:pt x="0" y="683421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PH"/>
          </a:p>
        </p:txBody>
      </p:sp>
      <p:sp>
        <p:nvSpPr>
          <p:cNvPr id="3" name="Freeform 3">
            <a:extLst>
              <a:ext uri="{FF2B5EF4-FFF2-40B4-BE49-F238E27FC236}">
                <a16:creationId xmlns:a16="http://schemas.microsoft.com/office/drawing/2014/main" id="{F3520169-FC99-3350-EF52-FF1EFFA497C4}"/>
              </a:ext>
            </a:extLst>
          </p:cNvPr>
          <p:cNvSpPr/>
          <p:nvPr/>
        </p:nvSpPr>
        <p:spPr>
          <a:xfrm>
            <a:off x="228599" y="7344423"/>
            <a:ext cx="4538583"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4894B7B-58E3-8BF4-6BF6-AB5D777E95A1}"/>
              </a:ext>
            </a:extLst>
          </p:cNvPr>
          <p:cNvSpPr/>
          <p:nvPr/>
        </p:nvSpPr>
        <p:spPr>
          <a:xfrm rot="-10584409">
            <a:off x="11728677" y="5022270"/>
            <a:ext cx="6177302" cy="5076148"/>
          </a:xfrm>
          <a:custGeom>
            <a:avLst/>
            <a:gdLst/>
            <a:ahLst/>
            <a:cxnLst/>
            <a:rect l="l" t="t" r="r" b="b"/>
            <a:pathLst>
              <a:path w="9516709" h="9049525">
                <a:moveTo>
                  <a:pt x="0" y="0"/>
                </a:moveTo>
                <a:lnTo>
                  <a:pt x="9516709" y="0"/>
                </a:lnTo>
                <a:lnTo>
                  <a:pt x="9516709" y="9049525"/>
                </a:lnTo>
                <a:lnTo>
                  <a:pt x="0" y="90495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5" name="Freeform 5">
            <a:extLst>
              <a:ext uri="{FF2B5EF4-FFF2-40B4-BE49-F238E27FC236}">
                <a16:creationId xmlns:a16="http://schemas.microsoft.com/office/drawing/2014/main" id="{E4FAD7BB-D0E7-F19C-B6FF-889A1131A21F}"/>
              </a:ext>
            </a:extLst>
          </p:cNvPr>
          <p:cNvSpPr/>
          <p:nvPr/>
        </p:nvSpPr>
        <p:spPr>
          <a:xfrm>
            <a:off x="13520817" y="7344423"/>
            <a:ext cx="4767183" cy="2694282"/>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a:extLst>
              <a:ext uri="{FF2B5EF4-FFF2-40B4-BE49-F238E27FC236}">
                <a16:creationId xmlns:a16="http://schemas.microsoft.com/office/drawing/2014/main" id="{36484109-781A-725E-982F-F95A21F1AD1F}"/>
              </a:ext>
            </a:extLst>
          </p:cNvPr>
          <p:cNvSpPr/>
          <p:nvPr/>
        </p:nvSpPr>
        <p:spPr>
          <a:xfrm>
            <a:off x="4767183" y="7344423"/>
            <a:ext cx="8753634" cy="2942578"/>
          </a:xfrm>
          <a:custGeom>
            <a:avLst/>
            <a:gdLst/>
            <a:ahLst/>
            <a:cxnLst/>
            <a:rect l="l" t="t" r="r" b="b"/>
            <a:pathLst>
              <a:path w="8753634" h="3390253">
                <a:moveTo>
                  <a:pt x="0" y="0"/>
                </a:moveTo>
                <a:lnTo>
                  <a:pt x="8753634" y="0"/>
                </a:lnTo>
                <a:lnTo>
                  <a:pt x="8753634" y="3390253"/>
                </a:lnTo>
                <a:lnTo>
                  <a:pt x="0" y="33902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PH"/>
          </a:p>
        </p:txBody>
      </p:sp>
      <p:sp>
        <p:nvSpPr>
          <p:cNvPr id="7" name="Freeform 7">
            <a:extLst>
              <a:ext uri="{FF2B5EF4-FFF2-40B4-BE49-F238E27FC236}">
                <a16:creationId xmlns:a16="http://schemas.microsoft.com/office/drawing/2014/main" id="{91392C7B-D06B-EFEA-FB71-AD658C1CD6AC}"/>
              </a:ext>
            </a:extLst>
          </p:cNvPr>
          <p:cNvSpPr/>
          <p:nvPr/>
        </p:nvSpPr>
        <p:spPr>
          <a:xfrm>
            <a:off x="13147880" y="447005"/>
            <a:ext cx="4111420" cy="1554864"/>
          </a:xfrm>
          <a:custGeom>
            <a:avLst/>
            <a:gdLst/>
            <a:ahLst/>
            <a:cxnLst/>
            <a:rect l="l" t="t" r="r" b="b"/>
            <a:pathLst>
              <a:path w="4111420" h="1554864">
                <a:moveTo>
                  <a:pt x="0" y="0"/>
                </a:moveTo>
                <a:lnTo>
                  <a:pt x="4111420" y="0"/>
                </a:lnTo>
                <a:lnTo>
                  <a:pt x="4111420" y="1554864"/>
                </a:lnTo>
                <a:lnTo>
                  <a:pt x="0" y="15548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8" name="Freeform 8">
            <a:extLst>
              <a:ext uri="{FF2B5EF4-FFF2-40B4-BE49-F238E27FC236}">
                <a16:creationId xmlns:a16="http://schemas.microsoft.com/office/drawing/2014/main" id="{BFB7376A-4946-3246-7718-0DAC45174D50}"/>
              </a:ext>
            </a:extLst>
          </p:cNvPr>
          <p:cNvSpPr/>
          <p:nvPr/>
        </p:nvSpPr>
        <p:spPr>
          <a:xfrm flipH="1">
            <a:off x="16359240" y="2606775"/>
            <a:ext cx="1699733" cy="1098022"/>
          </a:xfrm>
          <a:custGeom>
            <a:avLst/>
            <a:gdLst/>
            <a:ahLst/>
            <a:cxnLst/>
            <a:rect l="l" t="t" r="r" b="b"/>
            <a:pathLst>
              <a:path w="2595470" h="981560">
                <a:moveTo>
                  <a:pt x="2595471" y="0"/>
                </a:moveTo>
                <a:lnTo>
                  <a:pt x="0" y="0"/>
                </a:lnTo>
                <a:lnTo>
                  <a:pt x="0" y="981559"/>
                </a:lnTo>
                <a:lnTo>
                  <a:pt x="2595471" y="981559"/>
                </a:lnTo>
                <a:lnTo>
                  <a:pt x="2595471" y="0"/>
                </a:lnTo>
                <a:close/>
              </a:path>
            </a:pathLst>
          </a:custGeom>
          <a:blipFill>
            <a:blip r:embed="rId8">
              <a:alphaModFix amt="85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FD6BB6F3-B47F-56C7-0D4B-0315D746910B}"/>
              </a:ext>
            </a:extLst>
          </p:cNvPr>
          <p:cNvSpPr/>
          <p:nvPr/>
        </p:nvSpPr>
        <p:spPr>
          <a:xfrm>
            <a:off x="221954" y="1224437"/>
            <a:ext cx="3417671" cy="1564706"/>
          </a:xfrm>
          <a:custGeom>
            <a:avLst/>
            <a:gdLst/>
            <a:ahLst/>
            <a:cxnLst/>
            <a:rect l="l" t="t" r="r" b="b"/>
            <a:pathLst>
              <a:path w="4111420" h="1554864">
                <a:moveTo>
                  <a:pt x="0" y="0"/>
                </a:moveTo>
                <a:lnTo>
                  <a:pt x="4111420" y="0"/>
                </a:lnTo>
                <a:lnTo>
                  <a:pt x="4111420" y="1554865"/>
                </a:lnTo>
                <a:lnTo>
                  <a:pt x="0" y="155486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2007AFBF-B061-2266-792C-E2D1E5578F70}"/>
              </a:ext>
            </a:extLst>
          </p:cNvPr>
          <p:cNvSpPr/>
          <p:nvPr/>
        </p:nvSpPr>
        <p:spPr>
          <a:xfrm>
            <a:off x="4321115" y="746150"/>
            <a:ext cx="819005" cy="819005"/>
          </a:xfrm>
          <a:custGeom>
            <a:avLst/>
            <a:gdLst/>
            <a:ahLst/>
            <a:cxnLst/>
            <a:rect l="l" t="t" r="r" b="b"/>
            <a:pathLst>
              <a:path w="819005" h="819005">
                <a:moveTo>
                  <a:pt x="0" y="0"/>
                </a:moveTo>
                <a:lnTo>
                  <a:pt x="819005" y="0"/>
                </a:lnTo>
                <a:lnTo>
                  <a:pt x="819005" y="819005"/>
                </a:lnTo>
                <a:lnTo>
                  <a:pt x="0" y="81900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2" name="Freeform 12">
            <a:extLst>
              <a:ext uri="{FF2B5EF4-FFF2-40B4-BE49-F238E27FC236}">
                <a16:creationId xmlns:a16="http://schemas.microsoft.com/office/drawing/2014/main" id="{C125F0F0-1871-1E59-B492-D24FE082E3C0}"/>
              </a:ext>
            </a:extLst>
          </p:cNvPr>
          <p:cNvSpPr/>
          <p:nvPr/>
        </p:nvSpPr>
        <p:spPr>
          <a:xfrm>
            <a:off x="13809501" y="2547506"/>
            <a:ext cx="241637" cy="241637"/>
          </a:xfrm>
          <a:custGeom>
            <a:avLst/>
            <a:gdLst/>
            <a:ahLst/>
            <a:cxnLst/>
            <a:rect l="l" t="t" r="r" b="b"/>
            <a:pathLst>
              <a:path w="241637" h="241637">
                <a:moveTo>
                  <a:pt x="0" y="0"/>
                </a:moveTo>
                <a:lnTo>
                  <a:pt x="241637" y="0"/>
                </a:lnTo>
                <a:lnTo>
                  <a:pt x="241637" y="241636"/>
                </a:lnTo>
                <a:lnTo>
                  <a:pt x="0" y="24163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3" name="Freeform 13">
            <a:extLst>
              <a:ext uri="{FF2B5EF4-FFF2-40B4-BE49-F238E27FC236}">
                <a16:creationId xmlns:a16="http://schemas.microsoft.com/office/drawing/2014/main" id="{53C2FF0C-B7E1-D161-3C16-4C0716C89F17}"/>
              </a:ext>
            </a:extLst>
          </p:cNvPr>
          <p:cNvSpPr/>
          <p:nvPr/>
        </p:nvSpPr>
        <p:spPr>
          <a:xfrm>
            <a:off x="6251685" y="1155652"/>
            <a:ext cx="406307" cy="406307"/>
          </a:xfrm>
          <a:custGeom>
            <a:avLst/>
            <a:gdLst/>
            <a:ahLst/>
            <a:cxnLst/>
            <a:rect l="l" t="t" r="r" b="b"/>
            <a:pathLst>
              <a:path w="406307" h="406307">
                <a:moveTo>
                  <a:pt x="0" y="0"/>
                </a:moveTo>
                <a:lnTo>
                  <a:pt x="406306" y="0"/>
                </a:lnTo>
                <a:lnTo>
                  <a:pt x="406306" y="406307"/>
                </a:lnTo>
                <a:lnTo>
                  <a:pt x="0" y="406307"/>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4" name="Freeform 14">
            <a:extLst>
              <a:ext uri="{FF2B5EF4-FFF2-40B4-BE49-F238E27FC236}">
                <a16:creationId xmlns:a16="http://schemas.microsoft.com/office/drawing/2014/main" id="{F1F4F762-F7BF-424C-6467-256E4739C352}"/>
              </a:ext>
            </a:extLst>
          </p:cNvPr>
          <p:cNvSpPr/>
          <p:nvPr/>
        </p:nvSpPr>
        <p:spPr>
          <a:xfrm>
            <a:off x="825547" y="3768844"/>
            <a:ext cx="406307" cy="406307"/>
          </a:xfrm>
          <a:custGeom>
            <a:avLst/>
            <a:gdLst/>
            <a:ahLst/>
            <a:cxnLst/>
            <a:rect l="l" t="t" r="r" b="b"/>
            <a:pathLst>
              <a:path w="406307" h="406307">
                <a:moveTo>
                  <a:pt x="0" y="0"/>
                </a:moveTo>
                <a:lnTo>
                  <a:pt x="406306" y="0"/>
                </a:lnTo>
                <a:lnTo>
                  <a:pt x="406306" y="406306"/>
                </a:lnTo>
                <a:lnTo>
                  <a:pt x="0" y="40630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5" name="Freeform 15">
            <a:extLst>
              <a:ext uri="{FF2B5EF4-FFF2-40B4-BE49-F238E27FC236}">
                <a16:creationId xmlns:a16="http://schemas.microsoft.com/office/drawing/2014/main" id="{CA0D491E-DCFE-EA9A-56AA-C64121232D23}"/>
              </a:ext>
            </a:extLst>
          </p:cNvPr>
          <p:cNvSpPr/>
          <p:nvPr/>
        </p:nvSpPr>
        <p:spPr>
          <a:xfrm>
            <a:off x="2372189" y="420331"/>
            <a:ext cx="325819" cy="325819"/>
          </a:xfrm>
          <a:custGeom>
            <a:avLst/>
            <a:gdLst/>
            <a:ahLst/>
            <a:cxnLst/>
            <a:rect l="l" t="t" r="r" b="b"/>
            <a:pathLst>
              <a:path w="325819" h="325819">
                <a:moveTo>
                  <a:pt x="0" y="0"/>
                </a:moveTo>
                <a:lnTo>
                  <a:pt x="325819" y="0"/>
                </a:lnTo>
                <a:lnTo>
                  <a:pt x="325819" y="325819"/>
                </a:lnTo>
                <a:lnTo>
                  <a:pt x="0" y="325819"/>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6" name="Freeform 16">
            <a:extLst>
              <a:ext uri="{FF2B5EF4-FFF2-40B4-BE49-F238E27FC236}">
                <a16:creationId xmlns:a16="http://schemas.microsoft.com/office/drawing/2014/main" id="{48ADFB01-E35D-EB32-7E07-3604C8C8D84E}"/>
              </a:ext>
            </a:extLst>
          </p:cNvPr>
          <p:cNvSpPr/>
          <p:nvPr/>
        </p:nvSpPr>
        <p:spPr>
          <a:xfrm>
            <a:off x="4545228" y="2668324"/>
            <a:ext cx="221955" cy="221955"/>
          </a:xfrm>
          <a:custGeom>
            <a:avLst/>
            <a:gdLst/>
            <a:ahLst/>
            <a:cxnLst/>
            <a:rect l="l" t="t" r="r" b="b"/>
            <a:pathLst>
              <a:path w="221955" h="221955">
                <a:moveTo>
                  <a:pt x="0" y="0"/>
                </a:moveTo>
                <a:lnTo>
                  <a:pt x="221955" y="0"/>
                </a:lnTo>
                <a:lnTo>
                  <a:pt x="221955" y="221955"/>
                </a:lnTo>
                <a:lnTo>
                  <a:pt x="0" y="221955"/>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7" name="Freeform 17">
            <a:extLst>
              <a:ext uri="{FF2B5EF4-FFF2-40B4-BE49-F238E27FC236}">
                <a16:creationId xmlns:a16="http://schemas.microsoft.com/office/drawing/2014/main" id="{D46A5B8C-F0A8-9242-08F4-78457EB52BD1}"/>
              </a:ext>
            </a:extLst>
          </p:cNvPr>
          <p:cNvSpPr/>
          <p:nvPr/>
        </p:nvSpPr>
        <p:spPr>
          <a:xfrm>
            <a:off x="12056140" y="1224437"/>
            <a:ext cx="340718" cy="340718"/>
          </a:xfrm>
          <a:custGeom>
            <a:avLst/>
            <a:gdLst/>
            <a:ahLst/>
            <a:cxnLst/>
            <a:rect l="l" t="t" r="r" b="b"/>
            <a:pathLst>
              <a:path w="340718" h="340718">
                <a:moveTo>
                  <a:pt x="0" y="0"/>
                </a:moveTo>
                <a:lnTo>
                  <a:pt x="340718" y="0"/>
                </a:lnTo>
                <a:lnTo>
                  <a:pt x="340718" y="340718"/>
                </a:lnTo>
                <a:lnTo>
                  <a:pt x="0" y="3407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8" name="Freeform 18">
            <a:extLst>
              <a:ext uri="{FF2B5EF4-FFF2-40B4-BE49-F238E27FC236}">
                <a16:creationId xmlns:a16="http://schemas.microsoft.com/office/drawing/2014/main" id="{921BE797-026B-DD39-B485-D183BC4F3710}"/>
              </a:ext>
            </a:extLst>
          </p:cNvPr>
          <p:cNvSpPr/>
          <p:nvPr/>
        </p:nvSpPr>
        <p:spPr>
          <a:xfrm>
            <a:off x="17415023" y="651023"/>
            <a:ext cx="221955" cy="221955"/>
          </a:xfrm>
          <a:custGeom>
            <a:avLst/>
            <a:gdLst/>
            <a:ahLst/>
            <a:cxnLst/>
            <a:rect l="l" t="t" r="r" b="b"/>
            <a:pathLst>
              <a:path w="221955" h="221955">
                <a:moveTo>
                  <a:pt x="0" y="0"/>
                </a:moveTo>
                <a:lnTo>
                  <a:pt x="221954" y="0"/>
                </a:lnTo>
                <a:lnTo>
                  <a:pt x="221954" y="221954"/>
                </a:lnTo>
                <a:lnTo>
                  <a:pt x="0" y="221954"/>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19" name="Freeform 19">
            <a:extLst>
              <a:ext uri="{FF2B5EF4-FFF2-40B4-BE49-F238E27FC236}">
                <a16:creationId xmlns:a16="http://schemas.microsoft.com/office/drawing/2014/main" id="{7AF7D340-8686-DF6C-FBC3-E6480F97A728}"/>
              </a:ext>
            </a:extLst>
          </p:cNvPr>
          <p:cNvSpPr/>
          <p:nvPr/>
        </p:nvSpPr>
        <p:spPr>
          <a:xfrm>
            <a:off x="17415023" y="4670780"/>
            <a:ext cx="325819" cy="325819"/>
          </a:xfrm>
          <a:custGeom>
            <a:avLst/>
            <a:gdLst/>
            <a:ahLst/>
            <a:cxnLst/>
            <a:rect l="l" t="t" r="r" b="b"/>
            <a:pathLst>
              <a:path w="325819" h="325819">
                <a:moveTo>
                  <a:pt x="0" y="0"/>
                </a:moveTo>
                <a:lnTo>
                  <a:pt x="325818" y="0"/>
                </a:lnTo>
                <a:lnTo>
                  <a:pt x="325818" y="325818"/>
                </a:lnTo>
                <a:lnTo>
                  <a:pt x="0" y="325818"/>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PH"/>
          </a:p>
        </p:txBody>
      </p:sp>
      <p:sp>
        <p:nvSpPr>
          <p:cNvPr id="20" name="TextBox 20">
            <a:extLst>
              <a:ext uri="{FF2B5EF4-FFF2-40B4-BE49-F238E27FC236}">
                <a16:creationId xmlns:a16="http://schemas.microsoft.com/office/drawing/2014/main" id="{FAC4CCEF-3285-61A3-8545-4D333ED7E457}"/>
              </a:ext>
            </a:extLst>
          </p:cNvPr>
          <p:cNvSpPr txBox="1"/>
          <p:nvPr/>
        </p:nvSpPr>
        <p:spPr>
          <a:xfrm>
            <a:off x="1583915" y="4070537"/>
            <a:ext cx="15120169" cy="1505220"/>
          </a:xfrm>
          <a:prstGeom prst="rect">
            <a:avLst/>
          </a:prstGeom>
        </p:spPr>
        <p:txBody>
          <a:bodyPr lIns="0" tIns="0" rIns="0" bIns="0" rtlCol="0" anchor="t">
            <a:spAutoFit/>
          </a:bodyPr>
          <a:lstStyle/>
          <a:p>
            <a:pPr algn="ctr">
              <a:lnSpc>
                <a:spcPts val="9000"/>
              </a:lnSpc>
            </a:pPr>
            <a:r>
              <a:rPr lang="en-US" sz="19900" dirty="0"/>
              <a:t> </a:t>
            </a:r>
            <a:r>
              <a:rPr lang="en-US" sz="19900" b="1" dirty="0">
                <a:ln w="6600">
                  <a:solidFill>
                    <a:schemeClr val="accent2"/>
                  </a:solidFill>
                  <a:prstDash val="solid"/>
                </a:ln>
                <a:solidFill>
                  <a:srgbClr val="FFFFFF"/>
                </a:solidFill>
                <a:effectLst>
                  <a:outerShdw dist="38100" dir="2700000" algn="tl" rotWithShape="0">
                    <a:schemeClr val="accent2"/>
                  </a:outerShdw>
                </a:effectLst>
              </a:rPr>
              <a:t>Thank You!</a:t>
            </a:r>
            <a:endParaRPr lang="en-US" sz="16600" b="1" dirty="0">
              <a:ln w="6600">
                <a:solidFill>
                  <a:schemeClr val="accent2"/>
                </a:solidFill>
                <a:prstDash val="solid"/>
              </a:ln>
              <a:solidFill>
                <a:srgbClr val="FFFFFF"/>
              </a:solidFill>
              <a:effectLst>
                <a:outerShdw dist="38100" dir="2700000" algn="tl" rotWithShape="0">
                  <a:schemeClr val="accent2"/>
                </a:outerShdw>
              </a:effectLst>
              <a:latin typeface="Cy Grotesk Wide Bold"/>
              <a:ea typeface="Cy Grotesk Wide Bold"/>
              <a:cs typeface="Cy Grotesk Wide Bold"/>
              <a:sym typeface="Cy Grotesk Wide Bold"/>
            </a:endParaRPr>
          </a:p>
        </p:txBody>
      </p:sp>
    </p:spTree>
    <p:extLst>
      <p:ext uri="{BB962C8B-B14F-4D97-AF65-F5344CB8AC3E}">
        <p14:creationId xmlns:p14="http://schemas.microsoft.com/office/powerpoint/2010/main" val="1199893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TotalTime>
  <Words>1631</Words>
  <Application>Microsoft Macintosh PowerPoint</Application>
  <PresentationFormat>Custom</PresentationFormat>
  <Paragraphs>103</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Brought</vt:lpstr>
      <vt:lpstr>Agrandir Bold</vt:lpstr>
      <vt:lpstr>Arial Narrow</vt:lpstr>
      <vt:lpstr>Arimo Bold</vt:lpstr>
      <vt:lpstr>Calibri</vt:lpstr>
      <vt:lpstr>Agrandir</vt:lpstr>
      <vt:lpstr>Biome</vt:lpstr>
      <vt:lpstr>Arial</vt:lpstr>
      <vt:lpstr>Arimo</vt:lpstr>
      <vt:lpstr>Cy Grotesk Wide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CONTEMPORARY</dc:title>
  <dc:creator>Administrator</dc:creator>
  <cp:lastModifiedBy>Jackelyn Legaspi</cp:lastModifiedBy>
  <cp:revision>22</cp:revision>
  <dcterms:created xsi:type="dcterms:W3CDTF">2006-08-16T00:00:00Z</dcterms:created>
  <dcterms:modified xsi:type="dcterms:W3CDTF">2025-10-13T07:42:19Z</dcterms:modified>
  <dc:identifier>DAGiUmklQDc</dc:identifier>
</cp:coreProperties>
</file>
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8" autoAdjust="0"/>
    <p:restoredTop sz="94637"/>
  </p:normalViewPr>
  <p:slideViewPr>
    <p:cSldViewPr snapToGrid="0">
      <p:cViewPr>
        <p:scale>
          <a:sx n="132" d="100"/>
          <a:sy n="132" d="100"/>
        </p:scale>
        <p:origin x="152" y="-1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2CABD-16FE-5246-F897-C25D52E80D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8EAF5C-B2C5-3FEC-1CE2-E5EDFEA545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CB6BC-C359-74D4-2B72-205C1117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3422F-4CD3-41F3-89F2-AC1D92098A63}" type="datetimeFigureOut">
              <a:rPr lang="en-PH" smtClean="0"/>
              <a:t>9/18/25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67D86-5ED1-6863-9692-BFDD78578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EE6AE2-4036-A00E-A658-E465D45FC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C0CE8-EB87-4009-B562-8518A9C04E4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56073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70E5D-A14D-F1AC-005B-A62A7654C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B49CD-C004-1EF9-67B1-FA9C506FC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6F5FB-354E-7398-C69F-C2DB10F2B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3422F-4CD3-41F3-89F2-AC1D92098A63}" type="datetimeFigureOut">
              <a:rPr lang="en-PH" smtClean="0"/>
              <a:t>9/18/25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6E3CB9-F5E3-A050-FE86-87C3922F7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BE07B-264D-723E-CA29-DF9174846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C0CE8-EB87-4009-B562-8518A9C04E4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4626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B258D-1624-0EB2-5794-C70DADA82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C28632-B4E8-CF75-20BA-B0FF20DDDF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45AEF-37D8-9CDC-1951-A4CEB174A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3422F-4CD3-41F3-89F2-AC1D92098A63}" type="datetimeFigureOut">
              <a:rPr lang="en-PH" smtClean="0"/>
              <a:t>9/18/25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FB48DC-D140-A4D6-1054-EE02595B7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793E5-F526-CC5A-135D-81BF79919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C0CE8-EB87-4009-B562-8518A9C04E4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8515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C2E84-2738-2AC5-BD02-BEBBE9AF5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610A9-3028-C533-CC9E-E7E5009B3A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345134-9A3F-EE79-CE9F-98AFAAF444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FE498A-0A19-E005-2177-13E07F71C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3422F-4CD3-41F3-89F2-AC1D92098A63}" type="datetimeFigureOut">
              <a:rPr lang="en-PH" smtClean="0"/>
              <a:t>9/18/25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54C8A-13CF-BA70-AE2F-95AE92BAC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2AF7E9-18FC-EA0F-3E36-2CCF38CB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C0CE8-EB87-4009-B562-8518A9C04E4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86567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1741F-E3B6-BB28-179F-B6F2D4729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30F9D4-7E56-7B8E-2E80-D4995F264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29AE9-A587-7E0D-2383-07E399D0B6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0513A2-625C-6B11-4ED6-C494BB783D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025898-F92A-C592-50E2-7D28D9FD4F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F458D3-54B8-A55E-26FA-4C63E0461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3422F-4CD3-41F3-89F2-AC1D92098A63}" type="datetimeFigureOut">
              <a:rPr lang="en-PH" smtClean="0"/>
              <a:t>9/18/25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72ED21-8DEB-14F9-684E-EBDD0BC02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4F5DDC-E420-1340-231D-DA471032A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C0CE8-EB87-4009-B562-8518A9C04E4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28204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E9F08-F335-1FCA-1BF9-4C5A0DAB3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47034F-AC7B-4B19-BC49-410B20518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3422F-4CD3-41F3-89F2-AC1D92098A63}" type="datetimeFigureOut">
              <a:rPr lang="en-PH" smtClean="0"/>
              <a:t>9/18/25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5E6FFE-7D52-CBF4-46C5-65689E71B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919F32-4CB9-62AA-DA02-4480E0A94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C0CE8-EB87-4009-B562-8518A9C04E4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5709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02A2E2-5A22-508F-3943-1596AB5FE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3422F-4CD3-41F3-89F2-AC1D92098A63}" type="datetimeFigureOut">
              <a:rPr lang="en-PH" smtClean="0"/>
              <a:t>9/18/25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80C9B0-5C92-BEF5-49D4-48CB7F381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E71AA0-D56A-6717-D0B9-4D59AA3B3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C0CE8-EB87-4009-B562-8518A9C04E4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63406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B3AA4-F8AC-8BCA-3260-954CC1FBD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B59D7-150E-2CA9-467E-0AB2D9D1E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7181A0-698D-1F10-5582-E53E6980B2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9C3ADC-6CBA-3E10-87BB-96294C27E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3422F-4CD3-41F3-89F2-AC1D92098A63}" type="datetimeFigureOut">
              <a:rPr lang="en-PH" smtClean="0"/>
              <a:t>9/18/25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B5D5EE-DE7F-CCF1-20C6-A96CB4E4A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1BF201-86E7-D7B5-3F5F-E8AAD2293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C0CE8-EB87-4009-B562-8518A9C04E4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48983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448BE-6FB5-F4CA-1A65-91D1FFD31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F6C213-F828-20F8-CB66-20D28EE6EB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FF9D1B-9B76-E835-6E4B-86CAD694A7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AE07F9-E442-8DAC-D799-B48071AF2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3422F-4CD3-41F3-89F2-AC1D92098A63}" type="datetimeFigureOut">
              <a:rPr lang="en-PH" smtClean="0"/>
              <a:t>9/18/25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C52FB-34C4-4763-8E70-3B1C1A557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ACD245-2215-1475-552C-A1E09723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C0CE8-EB87-4009-B562-8518A9C04E4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60727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FA27F-F7B6-6D7A-0A53-09DC81267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1392B6-A6E2-3AD3-82DA-3F2A7824A9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7D27C-E668-5E54-AEDF-E83FAB8EA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3422F-4CD3-41F3-89F2-AC1D92098A63}" type="datetimeFigureOut">
              <a:rPr lang="en-PH" smtClean="0"/>
              <a:t>9/18/25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C4DAA-F8EE-CC9A-A1E1-83397002E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3C555-5181-8434-3067-62755FDD5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C0CE8-EB87-4009-B562-8518A9C04E4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01394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BA88B1-29AC-9D67-2D82-ED4DD242A6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16F8F4-7C0F-0B79-ABE1-F95566FA53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6F2CAD-4B23-F946-AAFB-7E1CB2E96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3422F-4CD3-41F3-89F2-AC1D92098A63}" type="datetimeFigureOut">
              <a:rPr lang="en-PH" smtClean="0"/>
              <a:t>9/18/25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2B87EF-D220-7151-8FA3-78FEF45A0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33958-D55E-8F64-571C-770A5BE04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C0CE8-EB87-4009-B562-8518A9C04E4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39364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84E9A3-2F98-71C5-1BAC-A1BCBB08B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6D703-3009-9424-372B-76F9C4325F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75735-0E8C-5D64-FE9C-90D203FB27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93422F-4CD3-41F3-89F2-AC1D92098A63}" type="datetimeFigureOut">
              <a:rPr lang="en-PH" smtClean="0"/>
              <a:t>9/18/25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77CCE-ACCF-6593-F49D-FF447D381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976D2A-C8C5-D2B0-9B77-A0747DECE1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3C0CE8-EB87-4009-B562-8518A9C04E4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23709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17" Type="http://schemas.openxmlformats.org/officeDocument/2006/relationships/image" Target="../media/image17.sv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image" Target="../media/image1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17" Type="http://schemas.openxmlformats.org/officeDocument/2006/relationships/image" Target="../media/image17.sv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image" Target="../media/image1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17" Type="http://schemas.openxmlformats.org/officeDocument/2006/relationships/image" Target="../media/image17.sv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image" Target="../media/image1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17" Type="http://schemas.openxmlformats.org/officeDocument/2006/relationships/image" Target="../media/image17.sv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image" Target="../media/image1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17" Type="http://schemas.openxmlformats.org/officeDocument/2006/relationships/image" Target="../media/image17.sv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image" Target="../media/image1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17" Type="http://schemas.openxmlformats.org/officeDocument/2006/relationships/image" Target="../media/image17.sv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image" Target="../media/image1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17" Type="http://schemas.openxmlformats.org/officeDocument/2006/relationships/image" Target="../media/image17.sv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image" Target="../media/image1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17" Type="http://schemas.openxmlformats.org/officeDocument/2006/relationships/image" Target="../media/image17.sv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image" Target="../media/image1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ity at dusk">
            <a:extLst>
              <a:ext uri="{FF2B5EF4-FFF2-40B4-BE49-F238E27FC236}">
                <a16:creationId xmlns:a16="http://schemas.microsoft.com/office/drawing/2014/main" id="{9D176FA3-91CD-2108-CDB6-BB8C47FFB2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97528C7-8B45-267F-E73B-BC5D02C6F8C5}"/>
              </a:ext>
            </a:extLst>
          </p:cNvPr>
          <p:cNvSpPr/>
          <p:nvPr/>
        </p:nvSpPr>
        <p:spPr>
          <a:xfrm>
            <a:off x="2" y="0"/>
            <a:ext cx="12191999" cy="6858000"/>
          </a:xfrm>
          <a:custGeom>
            <a:avLst/>
            <a:gdLst>
              <a:gd name="connsiteX0" fmla="*/ 5812976 w 12191999"/>
              <a:gd name="connsiteY0" fmla="*/ 657497 h 6858000"/>
              <a:gd name="connsiteX1" fmla="*/ 5560422 w 12191999"/>
              <a:gd name="connsiteY1" fmla="*/ 910051 h 6858000"/>
              <a:gd name="connsiteX2" fmla="*/ 5560422 w 12191999"/>
              <a:gd name="connsiteY2" fmla="*/ 6291937 h 6858000"/>
              <a:gd name="connsiteX3" fmla="*/ 5812976 w 12191999"/>
              <a:gd name="connsiteY3" fmla="*/ 6544491 h 6858000"/>
              <a:gd name="connsiteX4" fmla="*/ 6823159 w 12191999"/>
              <a:gd name="connsiteY4" fmla="*/ 6544491 h 6858000"/>
              <a:gd name="connsiteX5" fmla="*/ 7075713 w 12191999"/>
              <a:gd name="connsiteY5" fmla="*/ 6291937 h 6858000"/>
              <a:gd name="connsiteX6" fmla="*/ 7075713 w 12191999"/>
              <a:gd name="connsiteY6" fmla="*/ 910051 h 6858000"/>
              <a:gd name="connsiteX7" fmla="*/ 6823159 w 12191999"/>
              <a:gd name="connsiteY7" fmla="*/ 657497 h 6858000"/>
              <a:gd name="connsiteX8" fmla="*/ 9117878 w 12191999"/>
              <a:gd name="connsiteY8" fmla="*/ 657497 h 6858000"/>
              <a:gd name="connsiteX9" fmla="*/ 8865324 w 12191999"/>
              <a:gd name="connsiteY9" fmla="*/ 910051 h 6858000"/>
              <a:gd name="connsiteX10" fmla="*/ 8865324 w 12191999"/>
              <a:gd name="connsiteY10" fmla="*/ 6291937 h 6858000"/>
              <a:gd name="connsiteX11" fmla="*/ 9117878 w 12191999"/>
              <a:gd name="connsiteY11" fmla="*/ 6544491 h 6858000"/>
              <a:gd name="connsiteX12" fmla="*/ 10128061 w 12191999"/>
              <a:gd name="connsiteY12" fmla="*/ 6544491 h 6858000"/>
              <a:gd name="connsiteX13" fmla="*/ 10380615 w 12191999"/>
              <a:gd name="connsiteY13" fmla="*/ 6291937 h 6858000"/>
              <a:gd name="connsiteX14" fmla="*/ 10380615 w 12191999"/>
              <a:gd name="connsiteY14" fmla="*/ 910051 h 6858000"/>
              <a:gd name="connsiteX15" fmla="*/ 10128061 w 12191999"/>
              <a:gd name="connsiteY15" fmla="*/ 657497 h 6858000"/>
              <a:gd name="connsiteX16" fmla="*/ 7465427 w 12191999"/>
              <a:gd name="connsiteY16" fmla="*/ 222068 h 6858000"/>
              <a:gd name="connsiteX17" fmla="*/ 7212873 w 12191999"/>
              <a:gd name="connsiteY17" fmla="*/ 474622 h 6858000"/>
              <a:gd name="connsiteX18" fmla="*/ 7212873 w 12191999"/>
              <a:gd name="connsiteY18" fmla="*/ 5856508 h 6858000"/>
              <a:gd name="connsiteX19" fmla="*/ 7465427 w 12191999"/>
              <a:gd name="connsiteY19" fmla="*/ 6109062 h 6858000"/>
              <a:gd name="connsiteX20" fmla="*/ 8475610 w 12191999"/>
              <a:gd name="connsiteY20" fmla="*/ 6109062 h 6858000"/>
              <a:gd name="connsiteX21" fmla="*/ 8728164 w 12191999"/>
              <a:gd name="connsiteY21" fmla="*/ 5856508 h 6858000"/>
              <a:gd name="connsiteX22" fmla="*/ 8728164 w 12191999"/>
              <a:gd name="connsiteY22" fmla="*/ 474622 h 6858000"/>
              <a:gd name="connsiteX23" fmla="*/ 8475610 w 12191999"/>
              <a:gd name="connsiteY23" fmla="*/ 222068 h 6858000"/>
              <a:gd name="connsiteX24" fmla="*/ 10707193 w 12191999"/>
              <a:gd name="connsiteY24" fmla="*/ 222068 h 6858000"/>
              <a:gd name="connsiteX25" fmla="*/ 10454639 w 12191999"/>
              <a:gd name="connsiteY25" fmla="*/ 474622 h 6858000"/>
              <a:gd name="connsiteX26" fmla="*/ 10454639 w 12191999"/>
              <a:gd name="connsiteY26" fmla="*/ 5856508 h 6858000"/>
              <a:gd name="connsiteX27" fmla="*/ 10707193 w 12191999"/>
              <a:gd name="connsiteY27" fmla="*/ 6109062 h 6858000"/>
              <a:gd name="connsiteX28" fmla="*/ 11717376 w 12191999"/>
              <a:gd name="connsiteY28" fmla="*/ 6109062 h 6858000"/>
              <a:gd name="connsiteX29" fmla="*/ 11969930 w 12191999"/>
              <a:gd name="connsiteY29" fmla="*/ 5856508 h 6858000"/>
              <a:gd name="connsiteX30" fmla="*/ 11969930 w 12191999"/>
              <a:gd name="connsiteY30" fmla="*/ 474622 h 6858000"/>
              <a:gd name="connsiteX31" fmla="*/ 11717376 w 12191999"/>
              <a:gd name="connsiteY31" fmla="*/ 222068 h 6858000"/>
              <a:gd name="connsiteX32" fmla="*/ 0 w 12191999"/>
              <a:gd name="connsiteY32" fmla="*/ 0 h 6858000"/>
              <a:gd name="connsiteX33" fmla="*/ 12191999 w 12191999"/>
              <a:gd name="connsiteY33" fmla="*/ 0 h 6858000"/>
              <a:gd name="connsiteX34" fmla="*/ 12191999 w 12191999"/>
              <a:gd name="connsiteY34" fmla="*/ 6858000 h 6858000"/>
              <a:gd name="connsiteX35" fmla="*/ 0 w 12191999"/>
              <a:gd name="connsiteY3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2191999" h="6858000">
                <a:moveTo>
                  <a:pt x="5812976" y="657497"/>
                </a:moveTo>
                <a:cubicBezTo>
                  <a:pt x="5673495" y="657497"/>
                  <a:pt x="5560422" y="770569"/>
                  <a:pt x="5560422" y="910051"/>
                </a:cubicBezTo>
                <a:lnTo>
                  <a:pt x="5560422" y="6291937"/>
                </a:lnTo>
                <a:cubicBezTo>
                  <a:pt x="5560422" y="6431419"/>
                  <a:pt x="5673495" y="6544491"/>
                  <a:pt x="5812976" y="6544491"/>
                </a:cubicBezTo>
                <a:lnTo>
                  <a:pt x="6823159" y="6544491"/>
                </a:lnTo>
                <a:cubicBezTo>
                  <a:pt x="6962641" y="6544491"/>
                  <a:pt x="7075713" y="6431419"/>
                  <a:pt x="7075713" y="6291937"/>
                </a:cubicBezTo>
                <a:lnTo>
                  <a:pt x="7075713" y="910051"/>
                </a:lnTo>
                <a:cubicBezTo>
                  <a:pt x="7075713" y="770569"/>
                  <a:pt x="6962641" y="657497"/>
                  <a:pt x="6823159" y="657497"/>
                </a:cubicBezTo>
                <a:close/>
                <a:moveTo>
                  <a:pt x="9117878" y="657497"/>
                </a:moveTo>
                <a:cubicBezTo>
                  <a:pt x="8978396" y="657497"/>
                  <a:pt x="8865324" y="770569"/>
                  <a:pt x="8865324" y="910051"/>
                </a:cubicBezTo>
                <a:lnTo>
                  <a:pt x="8865324" y="6291937"/>
                </a:lnTo>
                <a:cubicBezTo>
                  <a:pt x="8865324" y="6431419"/>
                  <a:pt x="8978396" y="6544491"/>
                  <a:pt x="9117878" y="6544491"/>
                </a:cubicBezTo>
                <a:lnTo>
                  <a:pt x="10128061" y="6544491"/>
                </a:lnTo>
                <a:cubicBezTo>
                  <a:pt x="10267543" y="6544491"/>
                  <a:pt x="10380615" y="6431419"/>
                  <a:pt x="10380615" y="6291937"/>
                </a:cubicBezTo>
                <a:lnTo>
                  <a:pt x="10380615" y="910051"/>
                </a:lnTo>
                <a:cubicBezTo>
                  <a:pt x="10380615" y="770569"/>
                  <a:pt x="10267543" y="657497"/>
                  <a:pt x="10128061" y="657497"/>
                </a:cubicBezTo>
                <a:close/>
                <a:moveTo>
                  <a:pt x="7465427" y="222068"/>
                </a:moveTo>
                <a:cubicBezTo>
                  <a:pt x="7325945" y="222068"/>
                  <a:pt x="7212873" y="335140"/>
                  <a:pt x="7212873" y="474622"/>
                </a:cubicBezTo>
                <a:lnTo>
                  <a:pt x="7212873" y="5856508"/>
                </a:lnTo>
                <a:cubicBezTo>
                  <a:pt x="7212873" y="5995990"/>
                  <a:pt x="7325945" y="6109062"/>
                  <a:pt x="7465427" y="6109062"/>
                </a:cubicBezTo>
                <a:lnTo>
                  <a:pt x="8475610" y="6109062"/>
                </a:lnTo>
                <a:cubicBezTo>
                  <a:pt x="8615092" y="6109062"/>
                  <a:pt x="8728164" y="5995990"/>
                  <a:pt x="8728164" y="5856508"/>
                </a:cubicBezTo>
                <a:lnTo>
                  <a:pt x="8728164" y="474622"/>
                </a:lnTo>
                <a:cubicBezTo>
                  <a:pt x="8728164" y="335140"/>
                  <a:pt x="8615092" y="222068"/>
                  <a:pt x="8475610" y="222068"/>
                </a:cubicBezTo>
                <a:close/>
                <a:moveTo>
                  <a:pt x="10707193" y="222068"/>
                </a:moveTo>
                <a:cubicBezTo>
                  <a:pt x="10567711" y="222068"/>
                  <a:pt x="10454639" y="335140"/>
                  <a:pt x="10454639" y="474622"/>
                </a:cubicBezTo>
                <a:lnTo>
                  <a:pt x="10454639" y="5856508"/>
                </a:lnTo>
                <a:cubicBezTo>
                  <a:pt x="10454639" y="5995990"/>
                  <a:pt x="10567711" y="6109062"/>
                  <a:pt x="10707193" y="6109062"/>
                </a:cubicBezTo>
                <a:lnTo>
                  <a:pt x="11717376" y="6109062"/>
                </a:lnTo>
                <a:cubicBezTo>
                  <a:pt x="11856858" y="6109062"/>
                  <a:pt x="11969930" y="5995990"/>
                  <a:pt x="11969930" y="5856508"/>
                </a:cubicBezTo>
                <a:lnTo>
                  <a:pt x="11969930" y="474622"/>
                </a:lnTo>
                <a:cubicBezTo>
                  <a:pt x="11969930" y="335140"/>
                  <a:pt x="11856858" y="222068"/>
                  <a:pt x="11717376" y="222068"/>
                </a:cubicBez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7ED828-E610-2AB2-6CE1-2744EE0B2C13}"/>
              </a:ext>
            </a:extLst>
          </p:cNvPr>
          <p:cNvSpPr/>
          <p:nvPr/>
        </p:nvSpPr>
        <p:spPr>
          <a:xfrm>
            <a:off x="605169" y="577268"/>
            <a:ext cx="4297756" cy="470898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000" b="1" dirty="0">
                <a:ln w="10160">
                  <a:solidFill>
                    <a:srgbClr val="FF0000"/>
                  </a:solidFill>
                  <a:prstDash val="solid"/>
                </a:ln>
                <a:solidFill>
                  <a:srgbClr val="FFFF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</a:t>
            </a:r>
            <a:r>
              <a:rPr lang="en-US" sz="6000" b="1" cap="none" spc="0" dirty="0">
                <a:ln w="10160">
                  <a:solidFill>
                    <a:srgbClr val="FF0000"/>
                  </a:solidFill>
                  <a:prstDash val="solid"/>
                </a:ln>
                <a:solidFill>
                  <a:srgbClr val="FFFF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istory of the </a:t>
            </a:r>
            <a:r>
              <a:rPr lang="en-US" sz="6000" b="1" dirty="0">
                <a:ln w="10160">
                  <a:solidFill>
                    <a:srgbClr val="FF0000"/>
                  </a:solidFill>
                  <a:prstDash val="solid"/>
                </a:ln>
                <a:solidFill>
                  <a:srgbClr val="FFFF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</a:t>
            </a:r>
            <a:r>
              <a:rPr lang="en-US" sz="6000" b="1" cap="none" spc="0" dirty="0">
                <a:ln w="10160">
                  <a:solidFill>
                    <a:srgbClr val="FF0000"/>
                  </a:solidFill>
                  <a:prstDash val="solid"/>
                </a:ln>
                <a:solidFill>
                  <a:srgbClr val="FFFF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odern </a:t>
            </a:r>
            <a:r>
              <a:rPr lang="en-US" sz="6000" b="1" dirty="0">
                <a:ln w="10160">
                  <a:solidFill>
                    <a:srgbClr val="FF0000"/>
                  </a:solidFill>
                  <a:prstDash val="solid"/>
                </a:ln>
                <a:solidFill>
                  <a:srgbClr val="FFFF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</a:t>
            </a:r>
            <a:r>
              <a:rPr lang="en-US" sz="6000" b="1" cap="none" spc="0" dirty="0">
                <a:ln w="10160">
                  <a:solidFill>
                    <a:srgbClr val="FF0000"/>
                  </a:solidFill>
                  <a:prstDash val="solid"/>
                </a:ln>
                <a:solidFill>
                  <a:srgbClr val="FFFF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ay </a:t>
            </a:r>
            <a:r>
              <a:rPr lang="en-US" sz="6000" b="1" dirty="0">
                <a:ln w="10160">
                  <a:solidFill>
                    <a:srgbClr val="FF0000"/>
                  </a:solidFill>
                  <a:prstDash val="solid"/>
                </a:ln>
                <a:solidFill>
                  <a:srgbClr val="FFFF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</a:t>
            </a:r>
            <a:r>
              <a:rPr lang="en-US" sz="6000" b="1" cap="none" spc="0" dirty="0">
                <a:ln w="10160">
                  <a:solidFill>
                    <a:srgbClr val="FF0000"/>
                  </a:solidFill>
                  <a:prstDash val="solid"/>
                </a:ln>
                <a:solidFill>
                  <a:srgbClr val="FFFF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conomy</a:t>
            </a:r>
          </a:p>
        </p:txBody>
      </p:sp>
    </p:spTree>
    <p:extLst>
      <p:ext uri="{BB962C8B-B14F-4D97-AF65-F5344CB8AC3E}">
        <p14:creationId xmlns:p14="http://schemas.microsoft.com/office/powerpoint/2010/main" val="1800013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" pathEditMode="relative" rAng="0" ptsTypes="AA">
                                      <p:cBhvr>
                                        <p:cTn id="6" dur="1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A7C184-48F9-52D4-14FB-DCC2761696A5}"/>
              </a:ext>
            </a:extLst>
          </p:cNvPr>
          <p:cNvSpPr/>
          <p:nvPr/>
        </p:nvSpPr>
        <p:spPr>
          <a:xfrm>
            <a:off x="30480" y="0"/>
            <a:ext cx="12131040" cy="67665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3" name="Circle: Hollow 2">
            <a:extLst>
              <a:ext uri="{FF2B5EF4-FFF2-40B4-BE49-F238E27FC236}">
                <a16:creationId xmlns:a16="http://schemas.microsoft.com/office/drawing/2014/main" id="{54A76BE5-8563-F399-DC11-3FAD584F6650}"/>
              </a:ext>
            </a:extLst>
          </p:cNvPr>
          <p:cNvSpPr/>
          <p:nvPr/>
        </p:nvSpPr>
        <p:spPr>
          <a:xfrm>
            <a:off x="-2372650" y="533400"/>
            <a:ext cx="5451566" cy="5791200"/>
          </a:xfrm>
          <a:prstGeom prst="donu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solidFill>
                <a:schemeClr val="tx1"/>
              </a:solidFill>
            </a:endParaRP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5EC44417-05E6-EED6-B1F8-FD1174CC9494}"/>
              </a:ext>
            </a:extLst>
          </p:cNvPr>
          <p:cNvSpPr/>
          <p:nvPr/>
        </p:nvSpPr>
        <p:spPr>
          <a:xfrm>
            <a:off x="30480" y="47244"/>
            <a:ext cx="1188720" cy="1069848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pic>
        <p:nvPicPr>
          <p:cNvPr id="5" name="Graphic 4" descr="Coins outline">
            <a:extLst>
              <a:ext uri="{FF2B5EF4-FFF2-40B4-BE49-F238E27FC236}">
                <a16:creationId xmlns:a16="http://schemas.microsoft.com/office/drawing/2014/main" id="{0B52949E-6374-1BE4-2B7C-645EDD281B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5116" y="92964"/>
            <a:ext cx="914400" cy="914400"/>
          </a:xfrm>
          <a:prstGeom prst="rect">
            <a:avLst/>
          </a:prstGeom>
        </p:spPr>
      </p:pic>
      <p:pic>
        <p:nvPicPr>
          <p:cNvPr id="8" name="Graphic 7" descr="Farmer male outline">
            <a:extLst>
              <a:ext uri="{FF2B5EF4-FFF2-40B4-BE49-F238E27FC236}">
                <a16:creationId xmlns:a16="http://schemas.microsoft.com/office/drawing/2014/main" id="{DB105CF7-BF7D-9479-B5A8-F5E8ADE9E9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6216" y="890016"/>
            <a:ext cx="914400" cy="914400"/>
          </a:xfrm>
          <a:prstGeom prst="rect">
            <a:avLst/>
          </a:prstGeom>
        </p:spPr>
      </p:pic>
      <p:pic>
        <p:nvPicPr>
          <p:cNvPr id="10" name="Graphic 9" descr="Male profile outline">
            <a:extLst>
              <a:ext uri="{FF2B5EF4-FFF2-40B4-BE49-F238E27FC236}">
                <a16:creationId xmlns:a16="http://schemas.microsoft.com/office/drawing/2014/main" id="{C1886DBB-7C12-31EE-F8BF-F36802E3D46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65366" y="1773936"/>
            <a:ext cx="914400" cy="914400"/>
          </a:xfrm>
          <a:prstGeom prst="rect">
            <a:avLst/>
          </a:prstGeom>
        </p:spPr>
      </p:pic>
      <p:pic>
        <p:nvPicPr>
          <p:cNvPr id="12" name="Graphic 11" descr="Arrow: Rotate right outline">
            <a:extLst>
              <a:ext uri="{FF2B5EF4-FFF2-40B4-BE49-F238E27FC236}">
                <a16:creationId xmlns:a16="http://schemas.microsoft.com/office/drawing/2014/main" id="{0A3A5AAA-FDD7-F669-D063-DFBAC9FF644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880616" y="2852928"/>
            <a:ext cx="914400" cy="914400"/>
          </a:xfrm>
          <a:prstGeom prst="rect">
            <a:avLst/>
          </a:prstGeom>
        </p:spPr>
      </p:pic>
      <p:pic>
        <p:nvPicPr>
          <p:cNvPr id="14" name="Graphic 13" descr="Dollar outline">
            <a:extLst>
              <a:ext uri="{FF2B5EF4-FFF2-40B4-BE49-F238E27FC236}">
                <a16:creationId xmlns:a16="http://schemas.microsoft.com/office/drawing/2014/main" id="{A11CF2A5-1B12-35C6-8601-D1FCCDE6341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52600" y="3928872"/>
            <a:ext cx="914400" cy="914400"/>
          </a:xfrm>
          <a:prstGeom prst="rect">
            <a:avLst/>
          </a:prstGeom>
        </p:spPr>
      </p:pic>
      <p:pic>
        <p:nvPicPr>
          <p:cNvPr id="16" name="Graphic 15" descr="Handshake outline">
            <a:extLst>
              <a:ext uri="{FF2B5EF4-FFF2-40B4-BE49-F238E27FC236}">
                <a16:creationId xmlns:a16="http://schemas.microsoft.com/office/drawing/2014/main" id="{297B15C3-3C7F-6139-F63A-8E391EADC7C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88720" y="4828032"/>
            <a:ext cx="914400" cy="914400"/>
          </a:xfrm>
          <a:prstGeom prst="rect">
            <a:avLst/>
          </a:prstGeom>
        </p:spPr>
      </p:pic>
      <p:pic>
        <p:nvPicPr>
          <p:cNvPr id="18" name="Graphic 17" descr="Travel outline">
            <a:extLst>
              <a:ext uri="{FF2B5EF4-FFF2-40B4-BE49-F238E27FC236}">
                <a16:creationId xmlns:a16="http://schemas.microsoft.com/office/drawing/2014/main" id="{42439953-85E0-F19C-AA97-3B46BB348B6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09016" y="5361432"/>
            <a:ext cx="914400" cy="914400"/>
          </a:xfrm>
          <a:prstGeom prst="rect">
            <a:avLst/>
          </a:prstGeom>
        </p:spPr>
      </p:pic>
      <p:pic>
        <p:nvPicPr>
          <p:cNvPr id="20" name="Graphic 19" descr="Computer outline">
            <a:extLst>
              <a:ext uri="{FF2B5EF4-FFF2-40B4-BE49-F238E27FC236}">
                <a16:creationId xmlns:a16="http://schemas.microsoft.com/office/drawing/2014/main" id="{5C488526-B686-6234-7897-055C4952E50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470045" y="5410200"/>
            <a:ext cx="914400" cy="9144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806898D-15D1-7FC0-0487-422F8B05F14C}"/>
              </a:ext>
            </a:extLst>
          </p:cNvPr>
          <p:cNvSpPr txBox="1"/>
          <p:nvPr/>
        </p:nvSpPr>
        <p:spPr>
          <a:xfrm>
            <a:off x="3986784" y="411480"/>
            <a:ext cx="7525512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n w="10160">
                  <a:solidFill>
                    <a:srgbClr val="FF0000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Mercantilism (16th–18th century)</a:t>
            </a:r>
          </a:p>
          <a:p>
            <a:r>
              <a:rPr lang="en-US" sz="4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Focused on accumulating gold and silver. Nations controlled trade and colonies to gain wealth. Economic power was tied to political and military strength.</a:t>
            </a:r>
          </a:p>
        </p:txBody>
      </p:sp>
    </p:spTree>
    <p:extLst>
      <p:ext uri="{BB962C8B-B14F-4D97-AF65-F5344CB8AC3E}">
        <p14:creationId xmlns:p14="http://schemas.microsoft.com/office/powerpoint/2010/main" val="30272522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FF1ED-8197-7A3E-8100-D8430396E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E58F09-AD4A-A367-E294-8A2C8F6E41AB}"/>
              </a:ext>
            </a:extLst>
          </p:cNvPr>
          <p:cNvSpPr/>
          <p:nvPr/>
        </p:nvSpPr>
        <p:spPr>
          <a:xfrm>
            <a:off x="30480" y="0"/>
            <a:ext cx="12131040" cy="67665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3" name="Circle: Hollow 2">
            <a:extLst>
              <a:ext uri="{FF2B5EF4-FFF2-40B4-BE49-F238E27FC236}">
                <a16:creationId xmlns:a16="http://schemas.microsoft.com/office/drawing/2014/main" id="{F79E18C7-1CCA-1EC0-9F57-F33E66407459}"/>
              </a:ext>
            </a:extLst>
          </p:cNvPr>
          <p:cNvSpPr/>
          <p:nvPr/>
        </p:nvSpPr>
        <p:spPr>
          <a:xfrm>
            <a:off x="-2372650" y="533400"/>
            <a:ext cx="5451566" cy="5791200"/>
          </a:xfrm>
          <a:prstGeom prst="donu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solidFill>
                <a:schemeClr val="tx1"/>
              </a:solidFill>
            </a:endParaRP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5023F2D0-B2F8-254C-B953-D0F704C68913}"/>
              </a:ext>
            </a:extLst>
          </p:cNvPr>
          <p:cNvSpPr/>
          <p:nvPr/>
        </p:nvSpPr>
        <p:spPr>
          <a:xfrm>
            <a:off x="1278854" y="379476"/>
            <a:ext cx="1188720" cy="1069848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5" name="Graphic 4" descr="Coins outline">
            <a:extLst>
              <a:ext uri="{FF2B5EF4-FFF2-40B4-BE49-F238E27FC236}">
                <a16:creationId xmlns:a16="http://schemas.microsoft.com/office/drawing/2014/main" id="{C721DFB2-D787-470A-938A-710F2DB2E0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04067" y="713232"/>
            <a:ext cx="914400" cy="914400"/>
          </a:xfrm>
          <a:prstGeom prst="rect">
            <a:avLst/>
          </a:prstGeom>
        </p:spPr>
      </p:pic>
      <p:pic>
        <p:nvPicPr>
          <p:cNvPr id="8" name="Graphic 7" descr="Farmer male outline">
            <a:extLst>
              <a:ext uri="{FF2B5EF4-FFF2-40B4-BE49-F238E27FC236}">
                <a16:creationId xmlns:a16="http://schemas.microsoft.com/office/drawing/2014/main" id="{65E793DB-28D1-246D-A463-83752835D9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23416" y="457200"/>
            <a:ext cx="914400" cy="914400"/>
          </a:xfrm>
          <a:prstGeom prst="rect">
            <a:avLst/>
          </a:prstGeom>
        </p:spPr>
      </p:pic>
      <p:pic>
        <p:nvPicPr>
          <p:cNvPr id="10" name="Graphic 9" descr="Male profile outline">
            <a:extLst>
              <a:ext uri="{FF2B5EF4-FFF2-40B4-BE49-F238E27FC236}">
                <a16:creationId xmlns:a16="http://schemas.microsoft.com/office/drawing/2014/main" id="{6EACBDDC-EB7B-9704-A7CA-5CF4A6D4AA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65366" y="1773936"/>
            <a:ext cx="914400" cy="914400"/>
          </a:xfrm>
          <a:prstGeom prst="rect">
            <a:avLst/>
          </a:prstGeom>
        </p:spPr>
      </p:pic>
      <p:pic>
        <p:nvPicPr>
          <p:cNvPr id="12" name="Graphic 11" descr="Arrow: Rotate right outline">
            <a:extLst>
              <a:ext uri="{FF2B5EF4-FFF2-40B4-BE49-F238E27FC236}">
                <a16:creationId xmlns:a16="http://schemas.microsoft.com/office/drawing/2014/main" id="{400BF556-3771-6145-2EFC-97570010372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880616" y="2852928"/>
            <a:ext cx="914400" cy="914400"/>
          </a:xfrm>
          <a:prstGeom prst="rect">
            <a:avLst/>
          </a:prstGeom>
        </p:spPr>
      </p:pic>
      <p:pic>
        <p:nvPicPr>
          <p:cNvPr id="14" name="Graphic 13" descr="Dollar outline">
            <a:extLst>
              <a:ext uri="{FF2B5EF4-FFF2-40B4-BE49-F238E27FC236}">
                <a16:creationId xmlns:a16="http://schemas.microsoft.com/office/drawing/2014/main" id="{E3991A02-DC40-BAC3-86F5-30EAA3ED997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52600" y="3928872"/>
            <a:ext cx="914400" cy="914400"/>
          </a:xfrm>
          <a:prstGeom prst="rect">
            <a:avLst/>
          </a:prstGeom>
        </p:spPr>
      </p:pic>
      <p:pic>
        <p:nvPicPr>
          <p:cNvPr id="16" name="Graphic 15" descr="Handshake outline">
            <a:extLst>
              <a:ext uri="{FF2B5EF4-FFF2-40B4-BE49-F238E27FC236}">
                <a16:creationId xmlns:a16="http://schemas.microsoft.com/office/drawing/2014/main" id="{4B4BF1C4-B3DD-C1BA-86B8-2FA17057D5D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88720" y="4828032"/>
            <a:ext cx="914400" cy="914400"/>
          </a:xfrm>
          <a:prstGeom prst="rect">
            <a:avLst/>
          </a:prstGeom>
        </p:spPr>
      </p:pic>
      <p:pic>
        <p:nvPicPr>
          <p:cNvPr id="18" name="Graphic 17" descr="Travel outline">
            <a:extLst>
              <a:ext uri="{FF2B5EF4-FFF2-40B4-BE49-F238E27FC236}">
                <a16:creationId xmlns:a16="http://schemas.microsoft.com/office/drawing/2014/main" id="{EF7C18E6-FC86-12EA-D24C-F911630B8D2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09016" y="5361432"/>
            <a:ext cx="914400" cy="914400"/>
          </a:xfrm>
          <a:prstGeom prst="rect">
            <a:avLst/>
          </a:prstGeom>
        </p:spPr>
      </p:pic>
      <p:pic>
        <p:nvPicPr>
          <p:cNvPr id="20" name="Graphic 19" descr="Computer outline">
            <a:extLst>
              <a:ext uri="{FF2B5EF4-FFF2-40B4-BE49-F238E27FC236}">
                <a16:creationId xmlns:a16="http://schemas.microsoft.com/office/drawing/2014/main" id="{D56E70FF-CD42-AFD0-A4E4-E1213FABBCF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470045" y="5410200"/>
            <a:ext cx="914400" cy="914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27099AB-1A20-6985-3700-39E5116993E3}"/>
              </a:ext>
            </a:extLst>
          </p:cNvPr>
          <p:cNvSpPr txBox="1"/>
          <p:nvPr/>
        </p:nvSpPr>
        <p:spPr>
          <a:xfrm>
            <a:off x="3825240" y="96012"/>
            <a:ext cx="768096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u="sng" dirty="0">
                <a:ln w="10160">
                  <a:solidFill>
                    <a:srgbClr val="FF0000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Industrial Revolution (18th–19th century)</a:t>
            </a:r>
          </a:p>
          <a:p>
            <a:r>
              <a:rPr lang="en-US" sz="4800" u="sng" dirty="0">
                <a:solidFill>
                  <a:schemeClr val="bg1"/>
                </a:solidFill>
              </a:rPr>
              <a:t>Introduction of machines, factories, and mass production. Shift from agriculture to industry and urban living. Rise of capitalism and new social classes.</a:t>
            </a:r>
            <a:endParaRPr lang="en-PH" sz="4800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09955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44FD0-09DB-496A-9F5C-E87D055E2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8D43FB-5DE1-9218-421C-20F06CC5E88D}"/>
              </a:ext>
            </a:extLst>
          </p:cNvPr>
          <p:cNvSpPr/>
          <p:nvPr/>
        </p:nvSpPr>
        <p:spPr>
          <a:xfrm>
            <a:off x="30480" y="0"/>
            <a:ext cx="12131040" cy="67665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3" name="Circle: Hollow 2">
            <a:extLst>
              <a:ext uri="{FF2B5EF4-FFF2-40B4-BE49-F238E27FC236}">
                <a16:creationId xmlns:a16="http://schemas.microsoft.com/office/drawing/2014/main" id="{93EC7AF6-37C2-E398-D724-2CA0C91E5CA0}"/>
              </a:ext>
            </a:extLst>
          </p:cNvPr>
          <p:cNvSpPr/>
          <p:nvPr/>
        </p:nvSpPr>
        <p:spPr>
          <a:xfrm>
            <a:off x="-2295143" y="533400"/>
            <a:ext cx="5451566" cy="5791200"/>
          </a:xfrm>
          <a:prstGeom prst="donu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solidFill>
                <a:schemeClr val="tx1"/>
              </a:solidFill>
            </a:endParaRP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FDE306D3-0C11-F810-3F9E-3B081AC7E523}"/>
              </a:ext>
            </a:extLst>
          </p:cNvPr>
          <p:cNvSpPr/>
          <p:nvPr/>
        </p:nvSpPr>
        <p:spPr>
          <a:xfrm>
            <a:off x="1970315" y="1158240"/>
            <a:ext cx="1188720" cy="1069848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pic>
        <p:nvPicPr>
          <p:cNvPr id="5" name="Graphic 4" descr="Coins outline">
            <a:extLst>
              <a:ext uri="{FF2B5EF4-FFF2-40B4-BE49-F238E27FC236}">
                <a16:creationId xmlns:a16="http://schemas.microsoft.com/office/drawing/2014/main" id="{E6DC6BC0-33F7-03C5-1F0C-C282363BC1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04067" y="713232"/>
            <a:ext cx="914400" cy="914400"/>
          </a:xfrm>
          <a:prstGeom prst="rect">
            <a:avLst/>
          </a:prstGeom>
        </p:spPr>
      </p:pic>
      <p:pic>
        <p:nvPicPr>
          <p:cNvPr id="8" name="Graphic 7" descr="Farmer male outline">
            <a:extLst>
              <a:ext uri="{FF2B5EF4-FFF2-40B4-BE49-F238E27FC236}">
                <a16:creationId xmlns:a16="http://schemas.microsoft.com/office/drawing/2014/main" id="{21EB0D3F-18CF-9E8D-A02D-8ED302D370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0333" y="1037844"/>
            <a:ext cx="914400" cy="914400"/>
          </a:xfrm>
          <a:prstGeom prst="rect">
            <a:avLst/>
          </a:prstGeom>
        </p:spPr>
      </p:pic>
      <p:pic>
        <p:nvPicPr>
          <p:cNvPr id="10" name="Graphic 9" descr="Male profile outline">
            <a:extLst>
              <a:ext uri="{FF2B5EF4-FFF2-40B4-BE49-F238E27FC236}">
                <a16:creationId xmlns:a16="http://schemas.microsoft.com/office/drawing/2014/main" id="{2CF77404-F366-E197-E48E-A0CECF621D8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64516" y="1243584"/>
            <a:ext cx="914400" cy="914400"/>
          </a:xfrm>
          <a:prstGeom prst="rect">
            <a:avLst/>
          </a:prstGeom>
        </p:spPr>
      </p:pic>
      <p:pic>
        <p:nvPicPr>
          <p:cNvPr id="12" name="Graphic 11" descr="Arrow: Rotate right outline">
            <a:extLst>
              <a:ext uri="{FF2B5EF4-FFF2-40B4-BE49-F238E27FC236}">
                <a16:creationId xmlns:a16="http://schemas.microsoft.com/office/drawing/2014/main" id="{D68F12CE-9709-858C-AFFD-E4C25EA05AB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880616" y="2852928"/>
            <a:ext cx="914400" cy="914400"/>
          </a:xfrm>
          <a:prstGeom prst="rect">
            <a:avLst/>
          </a:prstGeom>
        </p:spPr>
      </p:pic>
      <p:pic>
        <p:nvPicPr>
          <p:cNvPr id="14" name="Graphic 13" descr="Dollar outline">
            <a:extLst>
              <a:ext uri="{FF2B5EF4-FFF2-40B4-BE49-F238E27FC236}">
                <a16:creationId xmlns:a16="http://schemas.microsoft.com/office/drawing/2014/main" id="{EA90E294-6E9A-9F73-9DC9-D2EEA1F34B6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52600" y="3928872"/>
            <a:ext cx="914400" cy="914400"/>
          </a:xfrm>
          <a:prstGeom prst="rect">
            <a:avLst/>
          </a:prstGeom>
        </p:spPr>
      </p:pic>
      <p:pic>
        <p:nvPicPr>
          <p:cNvPr id="16" name="Graphic 15" descr="Handshake outline">
            <a:extLst>
              <a:ext uri="{FF2B5EF4-FFF2-40B4-BE49-F238E27FC236}">
                <a16:creationId xmlns:a16="http://schemas.microsoft.com/office/drawing/2014/main" id="{E5434702-6D99-94E5-EFF1-00AC6D29705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88720" y="4828032"/>
            <a:ext cx="914400" cy="914400"/>
          </a:xfrm>
          <a:prstGeom prst="rect">
            <a:avLst/>
          </a:prstGeom>
        </p:spPr>
      </p:pic>
      <p:pic>
        <p:nvPicPr>
          <p:cNvPr id="18" name="Graphic 17" descr="Travel outline">
            <a:extLst>
              <a:ext uri="{FF2B5EF4-FFF2-40B4-BE49-F238E27FC236}">
                <a16:creationId xmlns:a16="http://schemas.microsoft.com/office/drawing/2014/main" id="{8A961430-7A76-6D56-F9F4-41A71C28260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09016" y="5361432"/>
            <a:ext cx="914400" cy="914400"/>
          </a:xfrm>
          <a:prstGeom prst="rect">
            <a:avLst/>
          </a:prstGeom>
        </p:spPr>
      </p:pic>
      <p:pic>
        <p:nvPicPr>
          <p:cNvPr id="20" name="Graphic 19" descr="Computer outline">
            <a:extLst>
              <a:ext uri="{FF2B5EF4-FFF2-40B4-BE49-F238E27FC236}">
                <a16:creationId xmlns:a16="http://schemas.microsoft.com/office/drawing/2014/main" id="{FD9EB96C-880E-CA0B-C1A6-FEFB14EE2C3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470045" y="5410200"/>
            <a:ext cx="914400" cy="914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5DE8C56-E4F0-6907-8415-C447B12FBEB5}"/>
              </a:ext>
            </a:extLst>
          </p:cNvPr>
          <p:cNvSpPr txBox="1"/>
          <p:nvPr/>
        </p:nvSpPr>
        <p:spPr>
          <a:xfrm>
            <a:off x="3941064" y="384048"/>
            <a:ext cx="7516368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n w="10160">
                  <a:solidFill>
                    <a:srgbClr val="FF0000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Classical Capitalism (19th century)</a:t>
            </a:r>
          </a:p>
          <a:p>
            <a:r>
              <a:rPr lang="en-US" sz="4800" b="1" dirty="0">
                <a:solidFill>
                  <a:schemeClr val="bg1"/>
                </a:solidFill>
              </a:rPr>
              <a:t>Guided by thinkers like Adam Smith advocating laissez-faire economics. Belief in free markets and minimal government intervention</a:t>
            </a:r>
            <a:r>
              <a:rPr lang="en-US" dirty="0"/>
              <a:t>.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9447194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06F45-98B1-4C28-A502-156C5B760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48C1C2B-7D93-B974-B130-F1638A0B1350}"/>
              </a:ext>
            </a:extLst>
          </p:cNvPr>
          <p:cNvSpPr/>
          <p:nvPr/>
        </p:nvSpPr>
        <p:spPr>
          <a:xfrm>
            <a:off x="30480" y="0"/>
            <a:ext cx="12131040" cy="67665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3" name="Circle: Hollow 2">
            <a:extLst>
              <a:ext uri="{FF2B5EF4-FFF2-40B4-BE49-F238E27FC236}">
                <a16:creationId xmlns:a16="http://schemas.microsoft.com/office/drawing/2014/main" id="{C1E35277-2295-A9F2-B83F-86EC0AEA3AB2}"/>
              </a:ext>
            </a:extLst>
          </p:cNvPr>
          <p:cNvSpPr/>
          <p:nvPr/>
        </p:nvSpPr>
        <p:spPr>
          <a:xfrm>
            <a:off x="-2510463" y="649224"/>
            <a:ext cx="5451566" cy="5791200"/>
          </a:xfrm>
          <a:prstGeom prst="donu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solidFill>
                <a:schemeClr val="tx1"/>
              </a:solidFill>
            </a:endParaRP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F6740935-9A27-3866-1F96-7DB0D2E3F5BC}"/>
              </a:ext>
            </a:extLst>
          </p:cNvPr>
          <p:cNvSpPr/>
          <p:nvPr/>
        </p:nvSpPr>
        <p:spPr>
          <a:xfrm>
            <a:off x="2346743" y="2500884"/>
            <a:ext cx="1188720" cy="1069848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pic>
        <p:nvPicPr>
          <p:cNvPr id="5" name="Graphic 4" descr="Coins outline">
            <a:extLst>
              <a:ext uri="{FF2B5EF4-FFF2-40B4-BE49-F238E27FC236}">
                <a16:creationId xmlns:a16="http://schemas.microsoft.com/office/drawing/2014/main" id="{6433E575-4693-BE6B-0DE2-D153F5ED7B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04067" y="713232"/>
            <a:ext cx="914400" cy="914400"/>
          </a:xfrm>
          <a:prstGeom prst="rect">
            <a:avLst/>
          </a:prstGeom>
        </p:spPr>
      </p:pic>
      <p:pic>
        <p:nvPicPr>
          <p:cNvPr id="8" name="Graphic 7" descr="Farmer male outline">
            <a:extLst>
              <a:ext uri="{FF2B5EF4-FFF2-40B4-BE49-F238E27FC236}">
                <a16:creationId xmlns:a16="http://schemas.microsoft.com/office/drawing/2014/main" id="{663FF0BE-4E81-EE24-4694-F41503B555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0333" y="1037844"/>
            <a:ext cx="914400" cy="914400"/>
          </a:xfrm>
          <a:prstGeom prst="rect">
            <a:avLst/>
          </a:prstGeom>
        </p:spPr>
      </p:pic>
      <p:pic>
        <p:nvPicPr>
          <p:cNvPr id="10" name="Graphic 9" descr="Male profile outline">
            <a:extLst>
              <a:ext uri="{FF2B5EF4-FFF2-40B4-BE49-F238E27FC236}">
                <a16:creationId xmlns:a16="http://schemas.microsoft.com/office/drawing/2014/main" id="{585E1DD4-4637-A27B-6343-3BE37CB91B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26178" y="1671828"/>
            <a:ext cx="914400" cy="914400"/>
          </a:xfrm>
          <a:prstGeom prst="rect">
            <a:avLst/>
          </a:prstGeom>
        </p:spPr>
      </p:pic>
      <p:pic>
        <p:nvPicPr>
          <p:cNvPr id="12" name="Graphic 11" descr="Arrow: Rotate right outline">
            <a:extLst>
              <a:ext uri="{FF2B5EF4-FFF2-40B4-BE49-F238E27FC236}">
                <a16:creationId xmlns:a16="http://schemas.microsoft.com/office/drawing/2014/main" id="{58AC9D65-66B8-8D61-8049-6706BA291F5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440578" y="2630424"/>
            <a:ext cx="914400" cy="914400"/>
          </a:xfrm>
          <a:prstGeom prst="rect">
            <a:avLst/>
          </a:prstGeom>
        </p:spPr>
      </p:pic>
      <p:pic>
        <p:nvPicPr>
          <p:cNvPr id="14" name="Graphic 13" descr="Dollar outline">
            <a:extLst>
              <a:ext uri="{FF2B5EF4-FFF2-40B4-BE49-F238E27FC236}">
                <a16:creationId xmlns:a16="http://schemas.microsoft.com/office/drawing/2014/main" id="{01BDE8C4-6103-8B75-2430-C86E29B5468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52600" y="3928872"/>
            <a:ext cx="914400" cy="914400"/>
          </a:xfrm>
          <a:prstGeom prst="rect">
            <a:avLst/>
          </a:prstGeom>
        </p:spPr>
      </p:pic>
      <p:pic>
        <p:nvPicPr>
          <p:cNvPr id="16" name="Graphic 15" descr="Handshake outline">
            <a:extLst>
              <a:ext uri="{FF2B5EF4-FFF2-40B4-BE49-F238E27FC236}">
                <a16:creationId xmlns:a16="http://schemas.microsoft.com/office/drawing/2014/main" id="{A82CC25F-8DB2-91E1-6165-4EF11262B04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88720" y="4828032"/>
            <a:ext cx="914400" cy="914400"/>
          </a:xfrm>
          <a:prstGeom prst="rect">
            <a:avLst/>
          </a:prstGeom>
        </p:spPr>
      </p:pic>
      <p:pic>
        <p:nvPicPr>
          <p:cNvPr id="18" name="Graphic 17" descr="Travel outline">
            <a:extLst>
              <a:ext uri="{FF2B5EF4-FFF2-40B4-BE49-F238E27FC236}">
                <a16:creationId xmlns:a16="http://schemas.microsoft.com/office/drawing/2014/main" id="{F8A89B0D-8D5C-A69A-46DC-75504753BC7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09016" y="5361432"/>
            <a:ext cx="914400" cy="914400"/>
          </a:xfrm>
          <a:prstGeom prst="rect">
            <a:avLst/>
          </a:prstGeom>
        </p:spPr>
      </p:pic>
      <p:pic>
        <p:nvPicPr>
          <p:cNvPr id="20" name="Graphic 19" descr="Computer outline">
            <a:extLst>
              <a:ext uri="{FF2B5EF4-FFF2-40B4-BE49-F238E27FC236}">
                <a16:creationId xmlns:a16="http://schemas.microsoft.com/office/drawing/2014/main" id="{61D60556-232C-B02B-D204-3A17727C846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470045" y="5410200"/>
            <a:ext cx="914400" cy="914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C871B47-5A58-BD71-40AC-CD967D2B22FC}"/>
              </a:ext>
            </a:extLst>
          </p:cNvPr>
          <p:cNvSpPr txBox="1"/>
          <p:nvPr/>
        </p:nvSpPr>
        <p:spPr>
          <a:xfrm>
            <a:off x="3941064" y="417576"/>
            <a:ext cx="7571232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n w="10160">
                  <a:solidFill>
                    <a:srgbClr val="FF0000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Great Depression (1930s)</a:t>
            </a:r>
          </a:p>
          <a:p>
            <a:r>
              <a:rPr lang="en-US" sz="4400" dirty="0">
                <a:solidFill>
                  <a:schemeClr val="bg1"/>
                </a:solidFill>
              </a:rPr>
              <a:t>Severe global economic crisis caused by stock market crash and weak banking systems. Led to unemployment and poverty worldwide. Governments began regulating markets and providing welfare.</a:t>
            </a:r>
            <a:endParaRPr lang="en-PH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50675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507BA-35B2-EADF-0ED2-973C5919E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1820D1-C233-A7FA-F468-92D090E7CF7F}"/>
              </a:ext>
            </a:extLst>
          </p:cNvPr>
          <p:cNvSpPr/>
          <p:nvPr/>
        </p:nvSpPr>
        <p:spPr>
          <a:xfrm>
            <a:off x="39189" y="-91440"/>
            <a:ext cx="12131040" cy="67665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3" name="Circle: Hollow 2">
            <a:extLst>
              <a:ext uri="{FF2B5EF4-FFF2-40B4-BE49-F238E27FC236}">
                <a16:creationId xmlns:a16="http://schemas.microsoft.com/office/drawing/2014/main" id="{BE5CA787-8ADC-6B1F-2AC6-72D9E0C1DC3C}"/>
              </a:ext>
            </a:extLst>
          </p:cNvPr>
          <p:cNvSpPr/>
          <p:nvPr/>
        </p:nvSpPr>
        <p:spPr>
          <a:xfrm>
            <a:off x="-2446455" y="659892"/>
            <a:ext cx="5451566" cy="5791200"/>
          </a:xfrm>
          <a:prstGeom prst="donu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solidFill>
                <a:schemeClr val="tx1"/>
              </a:solidFill>
            </a:endParaRP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0BB76BAD-0D84-5D4B-B619-E227C02FF2EA}"/>
              </a:ext>
            </a:extLst>
          </p:cNvPr>
          <p:cNvSpPr/>
          <p:nvPr/>
        </p:nvSpPr>
        <p:spPr>
          <a:xfrm>
            <a:off x="2325625" y="3499104"/>
            <a:ext cx="1188720" cy="1069848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pic>
        <p:nvPicPr>
          <p:cNvPr id="5" name="Graphic 4" descr="Coins outline">
            <a:extLst>
              <a:ext uri="{FF2B5EF4-FFF2-40B4-BE49-F238E27FC236}">
                <a16:creationId xmlns:a16="http://schemas.microsoft.com/office/drawing/2014/main" id="{BC40489C-C039-4065-D46F-9E6BF1044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04067" y="713232"/>
            <a:ext cx="914400" cy="914400"/>
          </a:xfrm>
          <a:prstGeom prst="rect">
            <a:avLst/>
          </a:prstGeom>
        </p:spPr>
      </p:pic>
      <p:pic>
        <p:nvPicPr>
          <p:cNvPr id="8" name="Graphic 7" descr="Farmer male outline">
            <a:extLst>
              <a:ext uri="{FF2B5EF4-FFF2-40B4-BE49-F238E27FC236}">
                <a16:creationId xmlns:a16="http://schemas.microsoft.com/office/drawing/2014/main" id="{77823571-E5EB-7132-D6F1-99C45627A4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0333" y="1037844"/>
            <a:ext cx="914400" cy="914400"/>
          </a:xfrm>
          <a:prstGeom prst="rect">
            <a:avLst/>
          </a:prstGeom>
        </p:spPr>
      </p:pic>
      <p:pic>
        <p:nvPicPr>
          <p:cNvPr id="10" name="Graphic 9" descr="Male profile outline">
            <a:extLst>
              <a:ext uri="{FF2B5EF4-FFF2-40B4-BE49-F238E27FC236}">
                <a16:creationId xmlns:a16="http://schemas.microsoft.com/office/drawing/2014/main" id="{58124024-A3B9-A06D-554F-B9026C2F04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26178" y="1671828"/>
            <a:ext cx="914400" cy="914400"/>
          </a:xfrm>
          <a:prstGeom prst="rect">
            <a:avLst/>
          </a:prstGeom>
        </p:spPr>
      </p:pic>
      <p:pic>
        <p:nvPicPr>
          <p:cNvPr id="12" name="Graphic 11" descr="Arrow: Rotate right outline">
            <a:extLst>
              <a:ext uri="{FF2B5EF4-FFF2-40B4-BE49-F238E27FC236}">
                <a16:creationId xmlns:a16="http://schemas.microsoft.com/office/drawing/2014/main" id="{A33FDCF0-772A-204D-DD58-43F0DBDB130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52600" y="2641092"/>
            <a:ext cx="914400" cy="914400"/>
          </a:xfrm>
          <a:prstGeom prst="rect">
            <a:avLst/>
          </a:prstGeom>
        </p:spPr>
      </p:pic>
      <p:pic>
        <p:nvPicPr>
          <p:cNvPr id="14" name="Graphic 13" descr="Dollar outline">
            <a:extLst>
              <a:ext uri="{FF2B5EF4-FFF2-40B4-BE49-F238E27FC236}">
                <a16:creationId xmlns:a16="http://schemas.microsoft.com/office/drawing/2014/main" id="{BA02B524-E348-66FB-40C6-E07DE6304EB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40578" y="3610356"/>
            <a:ext cx="914400" cy="914400"/>
          </a:xfrm>
          <a:prstGeom prst="rect">
            <a:avLst/>
          </a:prstGeom>
        </p:spPr>
      </p:pic>
      <p:pic>
        <p:nvPicPr>
          <p:cNvPr id="16" name="Graphic 15" descr="Handshake outline">
            <a:extLst>
              <a:ext uri="{FF2B5EF4-FFF2-40B4-BE49-F238E27FC236}">
                <a16:creationId xmlns:a16="http://schemas.microsoft.com/office/drawing/2014/main" id="{09C5BF7A-2A56-4FEE-C5D6-0060B761C42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526178" y="4405884"/>
            <a:ext cx="914400" cy="914400"/>
          </a:xfrm>
          <a:prstGeom prst="rect">
            <a:avLst/>
          </a:prstGeom>
        </p:spPr>
      </p:pic>
      <p:pic>
        <p:nvPicPr>
          <p:cNvPr id="18" name="Graphic 17" descr="Travel outline">
            <a:extLst>
              <a:ext uri="{FF2B5EF4-FFF2-40B4-BE49-F238E27FC236}">
                <a16:creationId xmlns:a16="http://schemas.microsoft.com/office/drawing/2014/main" id="{834FDCC3-BA87-FB20-1A3B-58DD10A3C0D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53589" y="4975098"/>
            <a:ext cx="914400" cy="914400"/>
          </a:xfrm>
          <a:prstGeom prst="rect">
            <a:avLst/>
          </a:prstGeom>
        </p:spPr>
      </p:pic>
      <p:pic>
        <p:nvPicPr>
          <p:cNvPr id="20" name="Graphic 19" descr="Computer outline">
            <a:extLst>
              <a:ext uri="{FF2B5EF4-FFF2-40B4-BE49-F238E27FC236}">
                <a16:creationId xmlns:a16="http://schemas.microsoft.com/office/drawing/2014/main" id="{16AD5774-DA90-177F-9CE0-C33E114B125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12845" y="5396484"/>
            <a:ext cx="914400" cy="914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01F9A8B-6973-29E1-4AB3-EF7794DD6405}"/>
              </a:ext>
            </a:extLst>
          </p:cNvPr>
          <p:cNvSpPr txBox="1"/>
          <p:nvPr/>
        </p:nvSpPr>
        <p:spPr>
          <a:xfrm>
            <a:off x="4023360" y="201168"/>
            <a:ext cx="755294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n w="10160">
                  <a:solidFill>
                    <a:srgbClr val="FF0000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Bretton Woods System (1944 onwards)</a:t>
            </a:r>
          </a:p>
          <a:p>
            <a:r>
              <a:rPr lang="en-US" sz="4800" b="1" dirty="0">
                <a:solidFill>
                  <a:schemeClr val="bg1"/>
                </a:solidFill>
              </a:rPr>
              <a:t>Creation of IMF and World Bank to stabilize world economies. US dollar became the standard currency in global trade.</a:t>
            </a:r>
            <a:endParaRPr lang="en-PH" sz="4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91399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09361-0ACA-FC0D-A45E-D9932FFD0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61777CC-A4AE-D177-F78E-D25233649B70}"/>
              </a:ext>
            </a:extLst>
          </p:cNvPr>
          <p:cNvSpPr/>
          <p:nvPr/>
        </p:nvSpPr>
        <p:spPr>
          <a:xfrm>
            <a:off x="0" y="0"/>
            <a:ext cx="12131040" cy="67665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3" name="Circle: Hollow 2">
            <a:extLst>
              <a:ext uri="{FF2B5EF4-FFF2-40B4-BE49-F238E27FC236}">
                <a16:creationId xmlns:a16="http://schemas.microsoft.com/office/drawing/2014/main" id="{E71475C7-61E4-6F4C-72E7-D1471EF2C270}"/>
              </a:ext>
            </a:extLst>
          </p:cNvPr>
          <p:cNvSpPr/>
          <p:nvPr/>
        </p:nvSpPr>
        <p:spPr>
          <a:xfrm>
            <a:off x="-2446455" y="659892"/>
            <a:ext cx="5451566" cy="5791200"/>
          </a:xfrm>
          <a:prstGeom prst="donu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solidFill>
                <a:schemeClr val="tx1"/>
              </a:solidFill>
            </a:endParaRP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F546F99C-FACA-D8BB-3328-A3BA706C9FE4}"/>
              </a:ext>
            </a:extLst>
          </p:cNvPr>
          <p:cNvSpPr/>
          <p:nvPr/>
        </p:nvSpPr>
        <p:spPr>
          <a:xfrm>
            <a:off x="1940761" y="4500372"/>
            <a:ext cx="1188720" cy="1069848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pic>
        <p:nvPicPr>
          <p:cNvPr id="5" name="Graphic 4" descr="Coins outline">
            <a:extLst>
              <a:ext uri="{FF2B5EF4-FFF2-40B4-BE49-F238E27FC236}">
                <a16:creationId xmlns:a16="http://schemas.microsoft.com/office/drawing/2014/main" id="{448C3F97-6FD5-816D-4576-BC50284DF8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04067" y="713232"/>
            <a:ext cx="914400" cy="914400"/>
          </a:xfrm>
          <a:prstGeom prst="rect">
            <a:avLst/>
          </a:prstGeom>
        </p:spPr>
      </p:pic>
      <p:pic>
        <p:nvPicPr>
          <p:cNvPr id="8" name="Graphic 7" descr="Farmer male outline">
            <a:extLst>
              <a:ext uri="{FF2B5EF4-FFF2-40B4-BE49-F238E27FC236}">
                <a16:creationId xmlns:a16="http://schemas.microsoft.com/office/drawing/2014/main" id="{0EBBA417-289B-8A8C-30DF-ECFF0A7424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0333" y="1037844"/>
            <a:ext cx="914400" cy="914400"/>
          </a:xfrm>
          <a:prstGeom prst="rect">
            <a:avLst/>
          </a:prstGeom>
        </p:spPr>
      </p:pic>
      <p:pic>
        <p:nvPicPr>
          <p:cNvPr id="10" name="Graphic 9" descr="Male profile outline">
            <a:extLst>
              <a:ext uri="{FF2B5EF4-FFF2-40B4-BE49-F238E27FC236}">
                <a16:creationId xmlns:a16="http://schemas.microsoft.com/office/drawing/2014/main" id="{5532AC4A-E67C-02F7-2AB2-27FBA6DAFC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26178" y="1671828"/>
            <a:ext cx="914400" cy="914400"/>
          </a:xfrm>
          <a:prstGeom prst="rect">
            <a:avLst/>
          </a:prstGeom>
        </p:spPr>
      </p:pic>
      <p:pic>
        <p:nvPicPr>
          <p:cNvPr id="12" name="Graphic 11" descr="Arrow: Rotate right outline">
            <a:extLst>
              <a:ext uri="{FF2B5EF4-FFF2-40B4-BE49-F238E27FC236}">
                <a16:creationId xmlns:a16="http://schemas.microsoft.com/office/drawing/2014/main" id="{96E0F359-E74D-BB63-AED9-5334D37C033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52600" y="2641092"/>
            <a:ext cx="914400" cy="914400"/>
          </a:xfrm>
          <a:prstGeom prst="rect">
            <a:avLst/>
          </a:prstGeom>
        </p:spPr>
      </p:pic>
      <p:pic>
        <p:nvPicPr>
          <p:cNvPr id="14" name="Graphic 13" descr="Dollar outline">
            <a:extLst>
              <a:ext uri="{FF2B5EF4-FFF2-40B4-BE49-F238E27FC236}">
                <a16:creationId xmlns:a16="http://schemas.microsoft.com/office/drawing/2014/main" id="{AA38D2B8-FAB2-EE17-907F-8471625C3D3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892374" y="3555492"/>
            <a:ext cx="914400" cy="914400"/>
          </a:xfrm>
          <a:prstGeom prst="rect">
            <a:avLst/>
          </a:prstGeom>
        </p:spPr>
      </p:pic>
      <p:pic>
        <p:nvPicPr>
          <p:cNvPr id="16" name="Graphic 15" descr="Handshake outline">
            <a:extLst>
              <a:ext uri="{FF2B5EF4-FFF2-40B4-BE49-F238E27FC236}">
                <a16:creationId xmlns:a16="http://schemas.microsoft.com/office/drawing/2014/main" id="{EE0B07DC-BCAF-E536-488C-14DB5719EFF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116728" y="4655820"/>
            <a:ext cx="914400" cy="914400"/>
          </a:xfrm>
          <a:prstGeom prst="rect">
            <a:avLst/>
          </a:prstGeom>
        </p:spPr>
      </p:pic>
      <p:pic>
        <p:nvPicPr>
          <p:cNvPr id="18" name="Graphic 17" descr="Travel outline">
            <a:extLst>
              <a:ext uri="{FF2B5EF4-FFF2-40B4-BE49-F238E27FC236}">
                <a16:creationId xmlns:a16="http://schemas.microsoft.com/office/drawing/2014/main" id="{E7E9FD2D-C615-5ECA-8377-83F47AB8B25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53589" y="4975098"/>
            <a:ext cx="914400" cy="914400"/>
          </a:xfrm>
          <a:prstGeom prst="rect">
            <a:avLst/>
          </a:prstGeom>
        </p:spPr>
      </p:pic>
      <p:pic>
        <p:nvPicPr>
          <p:cNvPr id="20" name="Graphic 19" descr="Computer outline">
            <a:extLst>
              <a:ext uri="{FF2B5EF4-FFF2-40B4-BE49-F238E27FC236}">
                <a16:creationId xmlns:a16="http://schemas.microsoft.com/office/drawing/2014/main" id="{2D513A2F-5720-D794-8CD8-EB6A7D009A8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12845" y="5396484"/>
            <a:ext cx="914400" cy="914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B014BA7-F271-0E62-A3EE-D80731D841A9}"/>
              </a:ext>
            </a:extLst>
          </p:cNvPr>
          <p:cNvSpPr txBox="1"/>
          <p:nvPr/>
        </p:nvSpPr>
        <p:spPr>
          <a:xfrm>
            <a:off x="3694176" y="406908"/>
            <a:ext cx="811987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ln w="10160">
                  <a:solidFill>
                    <a:srgbClr val="FF0000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Neoliberalism (1980s)</a:t>
            </a:r>
          </a:p>
          <a:p>
            <a:r>
              <a:rPr lang="en-US" sz="5400" dirty="0">
                <a:solidFill>
                  <a:schemeClr val="bg1"/>
                </a:solidFill>
              </a:rPr>
              <a:t>Policies promoting free markets, privatization, and globalization. Spread of international trade and investments.</a:t>
            </a:r>
            <a:endParaRPr lang="en-PH" sz="5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63247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CFA1B-43B5-FCF0-AB17-4CACEB0C4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FF9748-EBDE-866F-09D2-1A9F7765B40E}"/>
              </a:ext>
            </a:extLst>
          </p:cNvPr>
          <p:cNvSpPr/>
          <p:nvPr/>
        </p:nvSpPr>
        <p:spPr>
          <a:xfrm>
            <a:off x="0" y="0"/>
            <a:ext cx="12131040" cy="67665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3" name="Circle: Hollow 2">
            <a:extLst>
              <a:ext uri="{FF2B5EF4-FFF2-40B4-BE49-F238E27FC236}">
                <a16:creationId xmlns:a16="http://schemas.microsoft.com/office/drawing/2014/main" id="{848168AC-11D7-B0AB-EAAC-A9877B596F5C}"/>
              </a:ext>
            </a:extLst>
          </p:cNvPr>
          <p:cNvSpPr/>
          <p:nvPr/>
        </p:nvSpPr>
        <p:spPr>
          <a:xfrm>
            <a:off x="-2446455" y="659892"/>
            <a:ext cx="5451566" cy="5791200"/>
          </a:xfrm>
          <a:prstGeom prst="donu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solidFill>
                <a:schemeClr val="tx1"/>
              </a:solidFill>
            </a:endParaRP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E82543D1-0399-5ED4-B637-15813E815037}"/>
              </a:ext>
            </a:extLst>
          </p:cNvPr>
          <p:cNvSpPr/>
          <p:nvPr/>
        </p:nvSpPr>
        <p:spPr>
          <a:xfrm>
            <a:off x="1358973" y="5163312"/>
            <a:ext cx="1188720" cy="1069848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pic>
        <p:nvPicPr>
          <p:cNvPr id="5" name="Graphic 4" descr="Coins outline">
            <a:extLst>
              <a:ext uri="{FF2B5EF4-FFF2-40B4-BE49-F238E27FC236}">
                <a16:creationId xmlns:a16="http://schemas.microsoft.com/office/drawing/2014/main" id="{DE3F2FF4-6149-5E71-2247-C3601F046C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04067" y="713232"/>
            <a:ext cx="914400" cy="914400"/>
          </a:xfrm>
          <a:prstGeom prst="rect">
            <a:avLst/>
          </a:prstGeom>
        </p:spPr>
      </p:pic>
      <p:pic>
        <p:nvPicPr>
          <p:cNvPr id="8" name="Graphic 7" descr="Farmer male outline">
            <a:extLst>
              <a:ext uri="{FF2B5EF4-FFF2-40B4-BE49-F238E27FC236}">
                <a16:creationId xmlns:a16="http://schemas.microsoft.com/office/drawing/2014/main" id="{22C72923-96B0-29E6-F3D2-498DB6A0FD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0333" y="1037844"/>
            <a:ext cx="914400" cy="914400"/>
          </a:xfrm>
          <a:prstGeom prst="rect">
            <a:avLst/>
          </a:prstGeom>
        </p:spPr>
      </p:pic>
      <p:pic>
        <p:nvPicPr>
          <p:cNvPr id="10" name="Graphic 9" descr="Male profile outline">
            <a:extLst>
              <a:ext uri="{FF2B5EF4-FFF2-40B4-BE49-F238E27FC236}">
                <a16:creationId xmlns:a16="http://schemas.microsoft.com/office/drawing/2014/main" id="{60762EB3-2E71-DB15-DFD1-ABA60C14BF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26178" y="1671828"/>
            <a:ext cx="914400" cy="914400"/>
          </a:xfrm>
          <a:prstGeom prst="rect">
            <a:avLst/>
          </a:prstGeom>
        </p:spPr>
      </p:pic>
      <p:pic>
        <p:nvPicPr>
          <p:cNvPr id="12" name="Graphic 11" descr="Arrow: Rotate right outline">
            <a:extLst>
              <a:ext uri="{FF2B5EF4-FFF2-40B4-BE49-F238E27FC236}">
                <a16:creationId xmlns:a16="http://schemas.microsoft.com/office/drawing/2014/main" id="{6BC06087-96E0-75B2-749A-69F33C38598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52600" y="2641092"/>
            <a:ext cx="914400" cy="914400"/>
          </a:xfrm>
          <a:prstGeom prst="rect">
            <a:avLst/>
          </a:prstGeom>
        </p:spPr>
      </p:pic>
      <p:pic>
        <p:nvPicPr>
          <p:cNvPr id="14" name="Graphic 13" descr="Dollar outline">
            <a:extLst>
              <a:ext uri="{FF2B5EF4-FFF2-40B4-BE49-F238E27FC236}">
                <a16:creationId xmlns:a16="http://schemas.microsoft.com/office/drawing/2014/main" id="{80149880-FC74-F938-70DF-83F3EDE7B42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892374" y="3555492"/>
            <a:ext cx="914400" cy="914400"/>
          </a:xfrm>
          <a:prstGeom prst="rect">
            <a:avLst/>
          </a:prstGeom>
        </p:spPr>
      </p:pic>
      <p:pic>
        <p:nvPicPr>
          <p:cNvPr id="16" name="Graphic 15" descr="Handshake outline">
            <a:extLst>
              <a:ext uri="{FF2B5EF4-FFF2-40B4-BE49-F238E27FC236}">
                <a16:creationId xmlns:a16="http://schemas.microsoft.com/office/drawing/2014/main" id="{2CF612B7-91A6-B26F-D558-C81E334ACED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639498" y="4341114"/>
            <a:ext cx="914400" cy="914400"/>
          </a:xfrm>
          <a:prstGeom prst="rect">
            <a:avLst/>
          </a:prstGeom>
        </p:spPr>
      </p:pic>
      <p:pic>
        <p:nvPicPr>
          <p:cNvPr id="18" name="Graphic 17" descr="Travel outline">
            <a:extLst>
              <a:ext uri="{FF2B5EF4-FFF2-40B4-BE49-F238E27FC236}">
                <a16:creationId xmlns:a16="http://schemas.microsoft.com/office/drawing/2014/main" id="{C630E5F7-37B4-E25B-0E69-DBB7CD5416D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526178" y="5255514"/>
            <a:ext cx="914400" cy="914400"/>
          </a:xfrm>
          <a:prstGeom prst="rect">
            <a:avLst/>
          </a:prstGeom>
        </p:spPr>
      </p:pic>
      <p:pic>
        <p:nvPicPr>
          <p:cNvPr id="20" name="Graphic 19" descr="Computer outline">
            <a:extLst>
              <a:ext uri="{FF2B5EF4-FFF2-40B4-BE49-F238E27FC236}">
                <a16:creationId xmlns:a16="http://schemas.microsoft.com/office/drawing/2014/main" id="{A272925C-0134-FC31-D64B-393D4EE938A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79328" y="5460492"/>
            <a:ext cx="914400" cy="914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2F1BFA6-F0A5-7F60-2A4E-0D864BBFBD78}"/>
              </a:ext>
            </a:extLst>
          </p:cNvPr>
          <p:cNvSpPr txBox="1"/>
          <p:nvPr/>
        </p:nvSpPr>
        <p:spPr>
          <a:xfrm>
            <a:off x="3834167" y="117693"/>
            <a:ext cx="7562088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ln w="10160">
                  <a:solidFill>
                    <a:srgbClr val="FF0000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Rise of Asian Economies (Late 20th century)</a:t>
            </a:r>
          </a:p>
          <a:p>
            <a:r>
              <a:rPr lang="en-US" sz="5400" b="1" dirty="0">
                <a:solidFill>
                  <a:schemeClr val="bg1"/>
                </a:solidFill>
              </a:rPr>
              <a:t>Japan, South Korea, China, and other Asian countries became major players in world trade.</a:t>
            </a:r>
            <a:endParaRPr lang="en-PH" sz="5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38448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66F12-0F6B-FFE4-57A2-84AA5F635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7C29FB-C2D9-C769-A122-6B0DB6C77581}"/>
              </a:ext>
            </a:extLst>
          </p:cNvPr>
          <p:cNvSpPr/>
          <p:nvPr/>
        </p:nvSpPr>
        <p:spPr>
          <a:xfrm>
            <a:off x="0" y="0"/>
            <a:ext cx="12131040" cy="67665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3" name="Circle: Hollow 2">
            <a:extLst>
              <a:ext uri="{FF2B5EF4-FFF2-40B4-BE49-F238E27FC236}">
                <a16:creationId xmlns:a16="http://schemas.microsoft.com/office/drawing/2014/main" id="{8D12447B-F7F9-9814-F276-6D7627EDFA3D}"/>
              </a:ext>
            </a:extLst>
          </p:cNvPr>
          <p:cNvSpPr/>
          <p:nvPr/>
        </p:nvSpPr>
        <p:spPr>
          <a:xfrm>
            <a:off x="-2271413" y="659892"/>
            <a:ext cx="5451566" cy="5791200"/>
          </a:xfrm>
          <a:prstGeom prst="donu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solidFill>
                <a:schemeClr val="tx1"/>
              </a:solidFill>
            </a:endParaRP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28224F03-D310-531A-BAB2-A7BA6C4901BF}"/>
              </a:ext>
            </a:extLst>
          </p:cNvPr>
          <p:cNvSpPr/>
          <p:nvPr/>
        </p:nvSpPr>
        <p:spPr>
          <a:xfrm>
            <a:off x="153598" y="5685282"/>
            <a:ext cx="1188720" cy="1069848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pic>
        <p:nvPicPr>
          <p:cNvPr id="5" name="Graphic 4" descr="Coins outline">
            <a:extLst>
              <a:ext uri="{FF2B5EF4-FFF2-40B4-BE49-F238E27FC236}">
                <a16:creationId xmlns:a16="http://schemas.microsoft.com/office/drawing/2014/main" id="{B09784E2-5721-8BD0-A1AE-3FB726588A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04067" y="713232"/>
            <a:ext cx="914400" cy="914400"/>
          </a:xfrm>
          <a:prstGeom prst="rect">
            <a:avLst/>
          </a:prstGeom>
        </p:spPr>
      </p:pic>
      <p:pic>
        <p:nvPicPr>
          <p:cNvPr id="8" name="Graphic 7" descr="Farmer male outline">
            <a:extLst>
              <a:ext uri="{FF2B5EF4-FFF2-40B4-BE49-F238E27FC236}">
                <a16:creationId xmlns:a16="http://schemas.microsoft.com/office/drawing/2014/main" id="{C1A087ED-8E96-DED4-E716-AEBCD91CD7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0333" y="1037844"/>
            <a:ext cx="914400" cy="914400"/>
          </a:xfrm>
          <a:prstGeom prst="rect">
            <a:avLst/>
          </a:prstGeom>
        </p:spPr>
      </p:pic>
      <p:pic>
        <p:nvPicPr>
          <p:cNvPr id="10" name="Graphic 9" descr="Male profile outline">
            <a:extLst>
              <a:ext uri="{FF2B5EF4-FFF2-40B4-BE49-F238E27FC236}">
                <a16:creationId xmlns:a16="http://schemas.microsoft.com/office/drawing/2014/main" id="{3DE814B9-CF39-BD71-21C6-EE932A7C09A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26178" y="1671828"/>
            <a:ext cx="914400" cy="914400"/>
          </a:xfrm>
          <a:prstGeom prst="rect">
            <a:avLst/>
          </a:prstGeom>
        </p:spPr>
      </p:pic>
      <p:pic>
        <p:nvPicPr>
          <p:cNvPr id="12" name="Graphic 11" descr="Arrow: Rotate right outline">
            <a:extLst>
              <a:ext uri="{FF2B5EF4-FFF2-40B4-BE49-F238E27FC236}">
                <a16:creationId xmlns:a16="http://schemas.microsoft.com/office/drawing/2014/main" id="{10C21508-92FF-426D-641B-96A42689127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52600" y="2641092"/>
            <a:ext cx="914400" cy="914400"/>
          </a:xfrm>
          <a:prstGeom prst="rect">
            <a:avLst/>
          </a:prstGeom>
        </p:spPr>
      </p:pic>
      <p:pic>
        <p:nvPicPr>
          <p:cNvPr id="14" name="Graphic 13" descr="Dollar outline">
            <a:extLst>
              <a:ext uri="{FF2B5EF4-FFF2-40B4-BE49-F238E27FC236}">
                <a16:creationId xmlns:a16="http://schemas.microsoft.com/office/drawing/2014/main" id="{8BC87021-2E4E-77B3-4DC8-AE2FA80CD5B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892374" y="3555492"/>
            <a:ext cx="914400" cy="914400"/>
          </a:xfrm>
          <a:prstGeom prst="rect">
            <a:avLst/>
          </a:prstGeom>
        </p:spPr>
      </p:pic>
      <p:pic>
        <p:nvPicPr>
          <p:cNvPr id="16" name="Graphic 15" descr="Handshake outline">
            <a:extLst>
              <a:ext uri="{FF2B5EF4-FFF2-40B4-BE49-F238E27FC236}">
                <a16:creationId xmlns:a16="http://schemas.microsoft.com/office/drawing/2014/main" id="{DAB56D3E-2279-A526-CF3E-318AE4A17B3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639498" y="4341114"/>
            <a:ext cx="914400" cy="914400"/>
          </a:xfrm>
          <a:prstGeom prst="rect">
            <a:avLst/>
          </a:prstGeom>
        </p:spPr>
      </p:pic>
      <p:pic>
        <p:nvPicPr>
          <p:cNvPr id="18" name="Graphic 17" descr="Travel outline">
            <a:extLst>
              <a:ext uri="{FF2B5EF4-FFF2-40B4-BE49-F238E27FC236}">
                <a16:creationId xmlns:a16="http://schemas.microsoft.com/office/drawing/2014/main" id="{73F7CFD7-C746-CC0F-1692-209020A83A2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93728" y="4956048"/>
            <a:ext cx="914400" cy="914400"/>
          </a:xfrm>
          <a:prstGeom prst="rect">
            <a:avLst/>
          </a:prstGeom>
        </p:spPr>
      </p:pic>
      <p:pic>
        <p:nvPicPr>
          <p:cNvPr id="20" name="Graphic 19" descr="Computer outline">
            <a:extLst>
              <a:ext uri="{FF2B5EF4-FFF2-40B4-BE49-F238E27FC236}">
                <a16:creationId xmlns:a16="http://schemas.microsoft.com/office/drawing/2014/main" id="{002D2379-9E60-B74B-0574-46549E68F27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79328" y="5870448"/>
            <a:ext cx="914400" cy="914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DBE4B97-9CDF-4BCA-3A98-74221400F5A4}"/>
              </a:ext>
            </a:extLst>
          </p:cNvPr>
          <p:cNvSpPr txBox="1"/>
          <p:nvPr/>
        </p:nvSpPr>
        <p:spPr>
          <a:xfrm>
            <a:off x="3477332" y="141339"/>
            <a:ext cx="8281851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n w="10160">
                  <a:solidFill>
                    <a:srgbClr val="FF0000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Digital &amp; Global Economy (21st century)</a:t>
            </a:r>
          </a:p>
          <a:p>
            <a:r>
              <a:rPr lang="en-US" sz="4800" b="1" dirty="0">
                <a:solidFill>
                  <a:schemeClr val="bg1"/>
                </a:solidFill>
              </a:rPr>
              <a:t>Driven by technology, the internet, and </a:t>
            </a:r>
          </a:p>
          <a:p>
            <a:r>
              <a:rPr lang="en-US" sz="5400" b="1" dirty="0">
                <a:solidFill>
                  <a:schemeClr val="bg1"/>
                </a:solidFill>
              </a:rPr>
              <a:t>e-commerce. </a:t>
            </a:r>
            <a:r>
              <a:rPr lang="en-US" sz="4800" b="1" dirty="0">
                <a:solidFill>
                  <a:schemeClr val="bg1"/>
                </a:solidFill>
              </a:rPr>
              <a:t>Economies are interconnected, with faster trade, outsourcing, and global supply chains.</a:t>
            </a:r>
            <a:endParaRPr lang="en-PH" sz="4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56645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7D622-B758-2C34-5E07-69DE70E1A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ity at dusk">
            <a:extLst>
              <a:ext uri="{FF2B5EF4-FFF2-40B4-BE49-F238E27FC236}">
                <a16:creationId xmlns:a16="http://schemas.microsoft.com/office/drawing/2014/main" id="{D2ACF351-E7D1-D127-B2F7-6D9B82461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3855"/>
            <a:ext cx="12192000" cy="6858000"/>
          </a:xfrm>
          <a:prstGeom prst="rect">
            <a:avLst/>
          </a:prstGeom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EB3563A-ED53-6835-FEC3-1B6EED535E2F}"/>
              </a:ext>
            </a:extLst>
          </p:cNvPr>
          <p:cNvSpPr/>
          <p:nvPr/>
        </p:nvSpPr>
        <p:spPr>
          <a:xfrm>
            <a:off x="1" y="0"/>
            <a:ext cx="12191999" cy="6858000"/>
          </a:xfrm>
          <a:custGeom>
            <a:avLst/>
            <a:gdLst>
              <a:gd name="connsiteX0" fmla="*/ 5812976 w 12191999"/>
              <a:gd name="connsiteY0" fmla="*/ 657497 h 6858000"/>
              <a:gd name="connsiteX1" fmla="*/ 5560422 w 12191999"/>
              <a:gd name="connsiteY1" fmla="*/ 910051 h 6858000"/>
              <a:gd name="connsiteX2" fmla="*/ 5560422 w 12191999"/>
              <a:gd name="connsiteY2" fmla="*/ 6291937 h 6858000"/>
              <a:gd name="connsiteX3" fmla="*/ 5812976 w 12191999"/>
              <a:gd name="connsiteY3" fmla="*/ 6544491 h 6858000"/>
              <a:gd name="connsiteX4" fmla="*/ 6823159 w 12191999"/>
              <a:gd name="connsiteY4" fmla="*/ 6544491 h 6858000"/>
              <a:gd name="connsiteX5" fmla="*/ 7075713 w 12191999"/>
              <a:gd name="connsiteY5" fmla="*/ 6291937 h 6858000"/>
              <a:gd name="connsiteX6" fmla="*/ 7075713 w 12191999"/>
              <a:gd name="connsiteY6" fmla="*/ 910051 h 6858000"/>
              <a:gd name="connsiteX7" fmla="*/ 6823159 w 12191999"/>
              <a:gd name="connsiteY7" fmla="*/ 657497 h 6858000"/>
              <a:gd name="connsiteX8" fmla="*/ 9117878 w 12191999"/>
              <a:gd name="connsiteY8" fmla="*/ 657497 h 6858000"/>
              <a:gd name="connsiteX9" fmla="*/ 8865324 w 12191999"/>
              <a:gd name="connsiteY9" fmla="*/ 910051 h 6858000"/>
              <a:gd name="connsiteX10" fmla="*/ 8865324 w 12191999"/>
              <a:gd name="connsiteY10" fmla="*/ 6291937 h 6858000"/>
              <a:gd name="connsiteX11" fmla="*/ 9117878 w 12191999"/>
              <a:gd name="connsiteY11" fmla="*/ 6544491 h 6858000"/>
              <a:gd name="connsiteX12" fmla="*/ 10128061 w 12191999"/>
              <a:gd name="connsiteY12" fmla="*/ 6544491 h 6858000"/>
              <a:gd name="connsiteX13" fmla="*/ 10380615 w 12191999"/>
              <a:gd name="connsiteY13" fmla="*/ 6291937 h 6858000"/>
              <a:gd name="connsiteX14" fmla="*/ 10380615 w 12191999"/>
              <a:gd name="connsiteY14" fmla="*/ 910051 h 6858000"/>
              <a:gd name="connsiteX15" fmla="*/ 10128061 w 12191999"/>
              <a:gd name="connsiteY15" fmla="*/ 657497 h 6858000"/>
              <a:gd name="connsiteX16" fmla="*/ 7465427 w 12191999"/>
              <a:gd name="connsiteY16" fmla="*/ 222068 h 6858000"/>
              <a:gd name="connsiteX17" fmla="*/ 7212873 w 12191999"/>
              <a:gd name="connsiteY17" fmla="*/ 474622 h 6858000"/>
              <a:gd name="connsiteX18" fmla="*/ 7212873 w 12191999"/>
              <a:gd name="connsiteY18" fmla="*/ 5856508 h 6858000"/>
              <a:gd name="connsiteX19" fmla="*/ 7465427 w 12191999"/>
              <a:gd name="connsiteY19" fmla="*/ 6109062 h 6858000"/>
              <a:gd name="connsiteX20" fmla="*/ 8475610 w 12191999"/>
              <a:gd name="connsiteY20" fmla="*/ 6109062 h 6858000"/>
              <a:gd name="connsiteX21" fmla="*/ 8728164 w 12191999"/>
              <a:gd name="connsiteY21" fmla="*/ 5856508 h 6858000"/>
              <a:gd name="connsiteX22" fmla="*/ 8728164 w 12191999"/>
              <a:gd name="connsiteY22" fmla="*/ 474622 h 6858000"/>
              <a:gd name="connsiteX23" fmla="*/ 8475610 w 12191999"/>
              <a:gd name="connsiteY23" fmla="*/ 222068 h 6858000"/>
              <a:gd name="connsiteX24" fmla="*/ 10707193 w 12191999"/>
              <a:gd name="connsiteY24" fmla="*/ 222068 h 6858000"/>
              <a:gd name="connsiteX25" fmla="*/ 10454639 w 12191999"/>
              <a:gd name="connsiteY25" fmla="*/ 474622 h 6858000"/>
              <a:gd name="connsiteX26" fmla="*/ 10454639 w 12191999"/>
              <a:gd name="connsiteY26" fmla="*/ 5856508 h 6858000"/>
              <a:gd name="connsiteX27" fmla="*/ 10707193 w 12191999"/>
              <a:gd name="connsiteY27" fmla="*/ 6109062 h 6858000"/>
              <a:gd name="connsiteX28" fmla="*/ 11717376 w 12191999"/>
              <a:gd name="connsiteY28" fmla="*/ 6109062 h 6858000"/>
              <a:gd name="connsiteX29" fmla="*/ 11969930 w 12191999"/>
              <a:gd name="connsiteY29" fmla="*/ 5856508 h 6858000"/>
              <a:gd name="connsiteX30" fmla="*/ 11969930 w 12191999"/>
              <a:gd name="connsiteY30" fmla="*/ 474622 h 6858000"/>
              <a:gd name="connsiteX31" fmla="*/ 11717376 w 12191999"/>
              <a:gd name="connsiteY31" fmla="*/ 222068 h 6858000"/>
              <a:gd name="connsiteX32" fmla="*/ 0 w 12191999"/>
              <a:gd name="connsiteY32" fmla="*/ 0 h 6858000"/>
              <a:gd name="connsiteX33" fmla="*/ 12191999 w 12191999"/>
              <a:gd name="connsiteY33" fmla="*/ 0 h 6858000"/>
              <a:gd name="connsiteX34" fmla="*/ 12191999 w 12191999"/>
              <a:gd name="connsiteY34" fmla="*/ 6858000 h 6858000"/>
              <a:gd name="connsiteX35" fmla="*/ 0 w 12191999"/>
              <a:gd name="connsiteY3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2191999" h="6858000">
                <a:moveTo>
                  <a:pt x="5812976" y="657497"/>
                </a:moveTo>
                <a:cubicBezTo>
                  <a:pt x="5673495" y="657497"/>
                  <a:pt x="5560422" y="770569"/>
                  <a:pt x="5560422" y="910051"/>
                </a:cubicBezTo>
                <a:lnTo>
                  <a:pt x="5560422" y="6291937"/>
                </a:lnTo>
                <a:cubicBezTo>
                  <a:pt x="5560422" y="6431419"/>
                  <a:pt x="5673495" y="6544491"/>
                  <a:pt x="5812976" y="6544491"/>
                </a:cubicBezTo>
                <a:lnTo>
                  <a:pt x="6823159" y="6544491"/>
                </a:lnTo>
                <a:cubicBezTo>
                  <a:pt x="6962641" y="6544491"/>
                  <a:pt x="7075713" y="6431419"/>
                  <a:pt x="7075713" y="6291937"/>
                </a:cubicBezTo>
                <a:lnTo>
                  <a:pt x="7075713" y="910051"/>
                </a:lnTo>
                <a:cubicBezTo>
                  <a:pt x="7075713" y="770569"/>
                  <a:pt x="6962641" y="657497"/>
                  <a:pt x="6823159" y="657497"/>
                </a:cubicBezTo>
                <a:close/>
                <a:moveTo>
                  <a:pt x="9117878" y="657497"/>
                </a:moveTo>
                <a:cubicBezTo>
                  <a:pt x="8978396" y="657497"/>
                  <a:pt x="8865324" y="770569"/>
                  <a:pt x="8865324" y="910051"/>
                </a:cubicBezTo>
                <a:lnTo>
                  <a:pt x="8865324" y="6291937"/>
                </a:lnTo>
                <a:cubicBezTo>
                  <a:pt x="8865324" y="6431419"/>
                  <a:pt x="8978396" y="6544491"/>
                  <a:pt x="9117878" y="6544491"/>
                </a:cubicBezTo>
                <a:lnTo>
                  <a:pt x="10128061" y="6544491"/>
                </a:lnTo>
                <a:cubicBezTo>
                  <a:pt x="10267543" y="6544491"/>
                  <a:pt x="10380615" y="6431419"/>
                  <a:pt x="10380615" y="6291937"/>
                </a:cubicBezTo>
                <a:lnTo>
                  <a:pt x="10380615" y="910051"/>
                </a:lnTo>
                <a:cubicBezTo>
                  <a:pt x="10380615" y="770569"/>
                  <a:pt x="10267543" y="657497"/>
                  <a:pt x="10128061" y="657497"/>
                </a:cubicBezTo>
                <a:close/>
                <a:moveTo>
                  <a:pt x="7465427" y="222068"/>
                </a:moveTo>
                <a:cubicBezTo>
                  <a:pt x="7325945" y="222068"/>
                  <a:pt x="7212873" y="335140"/>
                  <a:pt x="7212873" y="474622"/>
                </a:cubicBezTo>
                <a:lnTo>
                  <a:pt x="7212873" y="5856508"/>
                </a:lnTo>
                <a:cubicBezTo>
                  <a:pt x="7212873" y="5995990"/>
                  <a:pt x="7325945" y="6109062"/>
                  <a:pt x="7465427" y="6109062"/>
                </a:cubicBezTo>
                <a:lnTo>
                  <a:pt x="8475610" y="6109062"/>
                </a:lnTo>
                <a:cubicBezTo>
                  <a:pt x="8615092" y="6109062"/>
                  <a:pt x="8728164" y="5995990"/>
                  <a:pt x="8728164" y="5856508"/>
                </a:cubicBezTo>
                <a:lnTo>
                  <a:pt x="8728164" y="474622"/>
                </a:lnTo>
                <a:cubicBezTo>
                  <a:pt x="8728164" y="335140"/>
                  <a:pt x="8615092" y="222068"/>
                  <a:pt x="8475610" y="222068"/>
                </a:cubicBezTo>
                <a:close/>
                <a:moveTo>
                  <a:pt x="10707193" y="222068"/>
                </a:moveTo>
                <a:cubicBezTo>
                  <a:pt x="10567711" y="222068"/>
                  <a:pt x="10454639" y="335140"/>
                  <a:pt x="10454639" y="474622"/>
                </a:cubicBezTo>
                <a:lnTo>
                  <a:pt x="10454639" y="5856508"/>
                </a:lnTo>
                <a:cubicBezTo>
                  <a:pt x="10454639" y="5995990"/>
                  <a:pt x="10567711" y="6109062"/>
                  <a:pt x="10707193" y="6109062"/>
                </a:cubicBezTo>
                <a:lnTo>
                  <a:pt x="11717376" y="6109062"/>
                </a:lnTo>
                <a:cubicBezTo>
                  <a:pt x="11856858" y="6109062"/>
                  <a:pt x="11969930" y="5995990"/>
                  <a:pt x="11969930" y="5856508"/>
                </a:cubicBezTo>
                <a:lnTo>
                  <a:pt x="11969930" y="474622"/>
                </a:lnTo>
                <a:cubicBezTo>
                  <a:pt x="11969930" y="335140"/>
                  <a:pt x="11856858" y="222068"/>
                  <a:pt x="11717376" y="222068"/>
                </a:cubicBez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AA0E24-490A-65BC-632A-E957E34CEAE3}"/>
              </a:ext>
            </a:extLst>
          </p:cNvPr>
          <p:cNvSpPr/>
          <p:nvPr/>
        </p:nvSpPr>
        <p:spPr>
          <a:xfrm>
            <a:off x="552918" y="1073657"/>
            <a:ext cx="4297756" cy="39703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000" b="1" dirty="0">
                <a:ln w="10160">
                  <a:solidFill>
                    <a:srgbClr val="FF0000"/>
                  </a:solidFill>
                  <a:prstDash val="solid"/>
                </a:ln>
                <a:solidFill>
                  <a:srgbClr val="FFFF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WATCH VIDEO </a:t>
            </a:r>
            <a:r>
              <a:rPr lang="en-US" sz="4400" b="1" dirty="0">
                <a:ln w="10160">
                  <a:solidFill>
                    <a:srgbClr val="FF0000"/>
                  </a:solidFill>
                  <a:prstDash val="solid"/>
                </a:ln>
                <a:solidFill>
                  <a:srgbClr val="FFFF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</a:t>
            </a:r>
            <a:r>
              <a:rPr lang="en-US" sz="4400" b="1" cap="none" spc="0" dirty="0">
                <a:ln w="10160">
                  <a:solidFill>
                    <a:srgbClr val="FF0000"/>
                  </a:solidFill>
                  <a:prstDash val="solid"/>
                </a:ln>
                <a:solidFill>
                  <a:srgbClr val="FFFF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istory of the </a:t>
            </a:r>
            <a:r>
              <a:rPr lang="en-US" sz="4400" b="1" dirty="0">
                <a:ln w="10160">
                  <a:solidFill>
                    <a:srgbClr val="FF0000"/>
                  </a:solidFill>
                  <a:prstDash val="solid"/>
                </a:ln>
                <a:solidFill>
                  <a:srgbClr val="FFFF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</a:t>
            </a:r>
            <a:r>
              <a:rPr lang="en-US" sz="4400" b="1" cap="none" spc="0" dirty="0">
                <a:ln w="10160">
                  <a:solidFill>
                    <a:srgbClr val="FF0000"/>
                  </a:solidFill>
                  <a:prstDash val="solid"/>
                </a:ln>
                <a:solidFill>
                  <a:srgbClr val="FFFF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odern </a:t>
            </a:r>
            <a:r>
              <a:rPr lang="en-US" sz="4400" b="1" dirty="0">
                <a:ln w="10160">
                  <a:solidFill>
                    <a:srgbClr val="FF0000"/>
                  </a:solidFill>
                  <a:prstDash val="solid"/>
                </a:ln>
                <a:solidFill>
                  <a:srgbClr val="FFFF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</a:t>
            </a:r>
            <a:r>
              <a:rPr lang="en-US" sz="4400" b="1" cap="none" spc="0" dirty="0">
                <a:ln w="10160">
                  <a:solidFill>
                    <a:srgbClr val="FF0000"/>
                  </a:solidFill>
                  <a:prstDash val="solid"/>
                </a:ln>
                <a:solidFill>
                  <a:srgbClr val="FFFF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ay </a:t>
            </a:r>
            <a:r>
              <a:rPr lang="en-US" sz="4400" b="1" dirty="0">
                <a:ln w="10160">
                  <a:solidFill>
                    <a:srgbClr val="FF0000"/>
                  </a:solidFill>
                  <a:prstDash val="solid"/>
                </a:ln>
                <a:solidFill>
                  <a:srgbClr val="FFFF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</a:t>
            </a:r>
            <a:r>
              <a:rPr lang="en-US" sz="4400" b="1" cap="none" spc="0" dirty="0">
                <a:ln w="10160">
                  <a:solidFill>
                    <a:srgbClr val="FF0000"/>
                  </a:solidFill>
                  <a:prstDash val="solid"/>
                </a:ln>
                <a:solidFill>
                  <a:srgbClr val="FFFF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conomy</a:t>
            </a:r>
            <a:endParaRPr lang="en-US" sz="6000" b="1" cap="none" spc="0" dirty="0">
              <a:ln w="10160">
                <a:solidFill>
                  <a:srgbClr val="FF0000"/>
                </a:solidFill>
                <a:prstDash val="solid"/>
              </a:ln>
              <a:solidFill>
                <a:srgbClr val="FFFF00"/>
              </a:soli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3455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" pathEditMode="relative" rAng="0" ptsTypes="AA">
                                      <p:cBhvr>
                                        <p:cTn id="6" dur="1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1ED5F-423E-A2B2-E173-7B7B2D2EF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ity at dusk">
            <a:extLst>
              <a:ext uri="{FF2B5EF4-FFF2-40B4-BE49-F238E27FC236}">
                <a16:creationId xmlns:a16="http://schemas.microsoft.com/office/drawing/2014/main" id="{740C22A7-FB5C-3CE2-8F7A-DD9310E8B4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FE1FAD6-F9EA-DAD6-11BD-882EC6C08AB4}"/>
              </a:ext>
            </a:extLst>
          </p:cNvPr>
          <p:cNvSpPr/>
          <p:nvPr/>
        </p:nvSpPr>
        <p:spPr>
          <a:xfrm>
            <a:off x="1" y="0"/>
            <a:ext cx="12191999" cy="6858000"/>
          </a:xfrm>
          <a:custGeom>
            <a:avLst/>
            <a:gdLst>
              <a:gd name="connsiteX0" fmla="*/ 5812976 w 12191999"/>
              <a:gd name="connsiteY0" fmla="*/ 657497 h 6858000"/>
              <a:gd name="connsiteX1" fmla="*/ 5560422 w 12191999"/>
              <a:gd name="connsiteY1" fmla="*/ 910051 h 6858000"/>
              <a:gd name="connsiteX2" fmla="*/ 5560422 w 12191999"/>
              <a:gd name="connsiteY2" fmla="*/ 6291937 h 6858000"/>
              <a:gd name="connsiteX3" fmla="*/ 5812976 w 12191999"/>
              <a:gd name="connsiteY3" fmla="*/ 6544491 h 6858000"/>
              <a:gd name="connsiteX4" fmla="*/ 6823159 w 12191999"/>
              <a:gd name="connsiteY4" fmla="*/ 6544491 h 6858000"/>
              <a:gd name="connsiteX5" fmla="*/ 7075713 w 12191999"/>
              <a:gd name="connsiteY5" fmla="*/ 6291937 h 6858000"/>
              <a:gd name="connsiteX6" fmla="*/ 7075713 w 12191999"/>
              <a:gd name="connsiteY6" fmla="*/ 910051 h 6858000"/>
              <a:gd name="connsiteX7" fmla="*/ 6823159 w 12191999"/>
              <a:gd name="connsiteY7" fmla="*/ 657497 h 6858000"/>
              <a:gd name="connsiteX8" fmla="*/ 9117878 w 12191999"/>
              <a:gd name="connsiteY8" fmla="*/ 657497 h 6858000"/>
              <a:gd name="connsiteX9" fmla="*/ 8865324 w 12191999"/>
              <a:gd name="connsiteY9" fmla="*/ 910051 h 6858000"/>
              <a:gd name="connsiteX10" fmla="*/ 8865324 w 12191999"/>
              <a:gd name="connsiteY10" fmla="*/ 6291937 h 6858000"/>
              <a:gd name="connsiteX11" fmla="*/ 9117878 w 12191999"/>
              <a:gd name="connsiteY11" fmla="*/ 6544491 h 6858000"/>
              <a:gd name="connsiteX12" fmla="*/ 10128061 w 12191999"/>
              <a:gd name="connsiteY12" fmla="*/ 6544491 h 6858000"/>
              <a:gd name="connsiteX13" fmla="*/ 10380615 w 12191999"/>
              <a:gd name="connsiteY13" fmla="*/ 6291937 h 6858000"/>
              <a:gd name="connsiteX14" fmla="*/ 10380615 w 12191999"/>
              <a:gd name="connsiteY14" fmla="*/ 910051 h 6858000"/>
              <a:gd name="connsiteX15" fmla="*/ 10128061 w 12191999"/>
              <a:gd name="connsiteY15" fmla="*/ 657497 h 6858000"/>
              <a:gd name="connsiteX16" fmla="*/ 7465427 w 12191999"/>
              <a:gd name="connsiteY16" fmla="*/ 222068 h 6858000"/>
              <a:gd name="connsiteX17" fmla="*/ 7212873 w 12191999"/>
              <a:gd name="connsiteY17" fmla="*/ 474622 h 6858000"/>
              <a:gd name="connsiteX18" fmla="*/ 7212873 w 12191999"/>
              <a:gd name="connsiteY18" fmla="*/ 5856508 h 6858000"/>
              <a:gd name="connsiteX19" fmla="*/ 7465427 w 12191999"/>
              <a:gd name="connsiteY19" fmla="*/ 6109062 h 6858000"/>
              <a:gd name="connsiteX20" fmla="*/ 8475610 w 12191999"/>
              <a:gd name="connsiteY20" fmla="*/ 6109062 h 6858000"/>
              <a:gd name="connsiteX21" fmla="*/ 8728164 w 12191999"/>
              <a:gd name="connsiteY21" fmla="*/ 5856508 h 6858000"/>
              <a:gd name="connsiteX22" fmla="*/ 8728164 w 12191999"/>
              <a:gd name="connsiteY22" fmla="*/ 474622 h 6858000"/>
              <a:gd name="connsiteX23" fmla="*/ 8475610 w 12191999"/>
              <a:gd name="connsiteY23" fmla="*/ 222068 h 6858000"/>
              <a:gd name="connsiteX24" fmla="*/ 10707193 w 12191999"/>
              <a:gd name="connsiteY24" fmla="*/ 222068 h 6858000"/>
              <a:gd name="connsiteX25" fmla="*/ 10454639 w 12191999"/>
              <a:gd name="connsiteY25" fmla="*/ 474622 h 6858000"/>
              <a:gd name="connsiteX26" fmla="*/ 10454639 w 12191999"/>
              <a:gd name="connsiteY26" fmla="*/ 5856508 h 6858000"/>
              <a:gd name="connsiteX27" fmla="*/ 10707193 w 12191999"/>
              <a:gd name="connsiteY27" fmla="*/ 6109062 h 6858000"/>
              <a:gd name="connsiteX28" fmla="*/ 11717376 w 12191999"/>
              <a:gd name="connsiteY28" fmla="*/ 6109062 h 6858000"/>
              <a:gd name="connsiteX29" fmla="*/ 11969930 w 12191999"/>
              <a:gd name="connsiteY29" fmla="*/ 5856508 h 6858000"/>
              <a:gd name="connsiteX30" fmla="*/ 11969930 w 12191999"/>
              <a:gd name="connsiteY30" fmla="*/ 474622 h 6858000"/>
              <a:gd name="connsiteX31" fmla="*/ 11717376 w 12191999"/>
              <a:gd name="connsiteY31" fmla="*/ 222068 h 6858000"/>
              <a:gd name="connsiteX32" fmla="*/ 0 w 12191999"/>
              <a:gd name="connsiteY32" fmla="*/ 0 h 6858000"/>
              <a:gd name="connsiteX33" fmla="*/ 12191999 w 12191999"/>
              <a:gd name="connsiteY33" fmla="*/ 0 h 6858000"/>
              <a:gd name="connsiteX34" fmla="*/ 12191999 w 12191999"/>
              <a:gd name="connsiteY34" fmla="*/ 6858000 h 6858000"/>
              <a:gd name="connsiteX35" fmla="*/ 0 w 12191999"/>
              <a:gd name="connsiteY3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2191999" h="6858000">
                <a:moveTo>
                  <a:pt x="5812976" y="657497"/>
                </a:moveTo>
                <a:cubicBezTo>
                  <a:pt x="5673495" y="657497"/>
                  <a:pt x="5560422" y="770569"/>
                  <a:pt x="5560422" y="910051"/>
                </a:cubicBezTo>
                <a:lnTo>
                  <a:pt x="5560422" y="6291937"/>
                </a:lnTo>
                <a:cubicBezTo>
                  <a:pt x="5560422" y="6431419"/>
                  <a:pt x="5673495" y="6544491"/>
                  <a:pt x="5812976" y="6544491"/>
                </a:cubicBezTo>
                <a:lnTo>
                  <a:pt x="6823159" y="6544491"/>
                </a:lnTo>
                <a:cubicBezTo>
                  <a:pt x="6962641" y="6544491"/>
                  <a:pt x="7075713" y="6431419"/>
                  <a:pt x="7075713" y="6291937"/>
                </a:cubicBezTo>
                <a:lnTo>
                  <a:pt x="7075713" y="910051"/>
                </a:lnTo>
                <a:cubicBezTo>
                  <a:pt x="7075713" y="770569"/>
                  <a:pt x="6962641" y="657497"/>
                  <a:pt x="6823159" y="657497"/>
                </a:cubicBezTo>
                <a:close/>
                <a:moveTo>
                  <a:pt x="9117878" y="657497"/>
                </a:moveTo>
                <a:cubicBezTo>
                  <a:pt x="8978396" y="657497"/>
                  <a:pt x="8865324" y="770569"/>
                  <a:pt x="8865324" y="910051"/>
                </a:cubicBezTo>
                <a:lnTo>
                  <a:pt x="8865324" y="6291937"/>
                </a:lnTo>
                <a:cubicBezTo>
                  <a:pt x="8865324" y="6431419"/>
                  <a:pt x="8978396" y="6544491"/>
                  <a:pt x="9117878" y="6544491"/>
                </a:cubicBezTo>
                <a:lnTo>
                  <a:pt x="10128061" y="6544491"/>
                </a:lnTo>
                <a:cubicBezTo>
                  <a:pt x="10267543" y="6544491"/>
                  <a:pt x="10380615" y="6431419"/>
                  <a:pt x="10380615" y="6291937"/>
                </a:cubicBezTo>
                <a:lnTo>
                  <a:pt x="10380615" y="910051"/>
                </a:lnTo>
                <a:cubicBezTo>
                  <a:pt x="10380615" y="770569"/>
                  <a:pt x="10267543" y="657497"/>
                  <a:pt x="10128061" y="657497"/>
                </a:cubicBezTo>
                <a:close/>
                <a:moveTo>
                  <a:pt x="7465427" y="222068"/>
                </a:moveTo>
                <a:cubicBezTo>
                  <a:pt x="7325945" y="222068"/>
                  <a:pt x="7212873" y="335140"/>
                  <a:pt x="7212873" y="474622"/>
                </a:cubicBezTo>
                <a:lnTo>
                  <a:pt x="7212873" y="5856508"/>
                </a:lnTo>
                <a:cubicBezTo>
                  <a:pt x="7212873" y="5995990"/>
                  <a:pt x="7325945" y="6109062"/>
                  <a:pt x="7465427" y="6109062"/>
                </a:cubicBezTo>
                <a:lnTo>
                  <a:pt x="8475610" y="6109062"/>
                </a:lnTo>
                <a:cubicBezTo>
                  <a:pt x="8615092" y="6109062"/>
                  <a:pt x="8728164" y="5995990"/>
                  <a:pt x="8728164" y="5856508"/>
                </a:cubicBezTo>
                <a:lnTo>
                  <a:pt x="8728164" y="474622"/>
                </a:lnTo>
                <a:cubicBezTo>
                  <a:pt x="8728164" y="335140"/>
                  <a:pt x="8615092" y="222068"/>
                  <a:pt x="8475610" y="222068"/>
                </a:cubicBezTo>
                <a:close/>
                <a:moveTo>
                  <a:pt x="10707193" y="222068"/>
                </a:moveTo>
                <a:cubicBezTo>
                  <a:pt x="10567711" y="222068"/>
                  <a:pt x="10454639" y="335140"/>
                  <a:pt x="10454639" y="474622"/>
                </a:cubicBezTo>
                <a:lnTo>
                  <a:pt x="10454639" y="5856508"/>
                </a:lnTo>
                <a:cubicBezTo>
                  <a:pt x="10454639" y="5995990"/>
                  <a:pt x="10567711" y="6109062"/>
                  <a:pt x="10707193" y="6109062"/>
                </a:cubicBezTo>
                <a:lnTo>
                  <a:pt x="11717376" y="6109062"/>
                </a:lnTo>
                <a:cubicBezTo>
                  <a:pt x="11856858" y="6109062"/>
                  <a:pt x="11969930" y="5995990"/>
                  <a:pt x="11969930" y="5856508"/>
                </a:cubicBezTo>
                <a:lnTo>
                  <a:pt x="11969930" y="474622"/>
                </a:lnTo>
                <a:cubicBezTo>
                  <a:pt x="11969930" y="335140"/>
                  <a:pt x="11856858" y="222068"/>
                  <a:pt x="11717376" y="222068"/>
                </a:cubicBez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D6CFB9-9D8E-1B3A-8179-2AF7231E0BC5}"/>
              </a:ext>
            </a:extLst>
          </p:cNvPr>
          <p:cNvSpPr txBox="1"/>
          <p:nvPr/>
        </p:nvSpPr>
        <p:spPr>
          <a:xfrm>
            <a:off x="243840" y="217714"/>
            <a:ext cx="51816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n w="10160">
                  <a:solidFill>
                    <a:srgbClr val="FF0000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Individual Activity: Key Events List</a:t>
            </a:r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1. Write down five (5) important events in the history of the modern-day economy.</a:t>
            </a:r>
          </a:p>
          <a:p>
            <a:r>
              <a:rPr lang="en-US" b="1" dirty="0">
                <a:solidFill>
                  <a:schemeClr val="bg1"/>
                </a:solidFill>
              </a:rPr>
              <a:t>2. For each event, give a short explanation (2–3 sentences) about why it is important.</a:t>
            </a:r>
          </a:p>
          <a:p>
            <a:r>
              <a:rPr lang="en-US" b="1" dirty="0">
                <a:solidFill>
                  <a:schemeClr val="bg1"/>
                </a:solidFill>
              </a:rPr>
              <a:t>3. Arrange the events in chronological order (from oldest to newest)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RUBRICS:</a:t>
            </a:r>
          </a:p>
          <a:p>
            <a:r>
              <a:rPr lang="en-US" b="1" dirty="0">
                <a:solidFill>
                  <a:schemeClr val="bg1"/>
                </a:solidFill>
              </a:rPr>
              <a:t>-Criteria for </a:t>
            </a:r>
            <a:r>
              <a:rPr lang="en-US" b="1" dirty="0" err="1">
                <a:solidFill>
                  <a:schemeClr val="bg1"/>
                </a:solidFill>
              </a:rPr>
              <a:t>EvaluationContent</a:t>
            </a:r>
            <a:r>
              <a:rPr lang="en-US" b="1" dirty="0">
                <a:solidFill>
                  <a:schemeClr val="bg1"/>
                </a:solidFill>
              </a:rPr>
              <a:t> Accuracy (40%) </a:t>
            </a:r>
          </a:p>
          <a:p>
            <a:r>
              <a:rPr lang="en-US" b="1" dirty="0">
                <a:solidFill>
                  <a:schemeClr val="bg1"/>
                </a:solidFill>
              </a:rPr>
              <a:t>Events are correct and historically accurate.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-Completeness (30%) – All 5 events are included with explanations.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-Clarity (20%) – Work is easy to understand and well-arranged.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-Neatness (10%) – Clean, organized, and readable output.</a:t>
            </a:r>
          </a:p>
          <a:p>
            <a:r>
              <a:rPr lang="en-US" b="1" dirty="0">
                <a:solidFill>
                  <a:schemeClr val="bg1"/>
                </a:solidFill>
              </a:rPr>
              <a:t>TOTAL-----------100%</a:t>
            </a:r>
            <a:endParaRPr lang="en-PH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7257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" pathEditMode="relative" rAng="0" ptsTypes="AA">
                                      <p:cBhvr>
                                        <p:cTn id="6" dur="1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371</Words>
  <Application>Microsoft Macintosh PowerPoint</Application>
  <PresentationFormat>Widescreen</PresentationFormat>
  <Paragraphs>34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ADLaM Display</vt:lpstr>
      <vt:lpstr>Aharoni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13795</dc:creator>
  <cp:lastModifiedBy>Jackelyn Legaspi</cp:lastModifiedBy>
  <cp:revision>6</cp:revision>
  <dcterms:created xsi:type="dcterms:W3CDTF">2025-09-09T08:55:06Z</dcterms:created>
  <dcterms:modified xsi:type="dcterms:W3CDTF">2025-09-18T10:53:57Z</dcterms:modified>
</cp:coreProperties>
</file>
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/>
    <p:restoredTop sz="94668"/>
  </p:normalViewPr>
  <p:slideViewPr>
    <p:cSldViewPr snapToGrid="0" snapToObjects="1">
      <p:cViewPr>
        <p:scale>
          <a:sx n="81" d="100"/>
          <a:sy n="81" d="100"/>
        </p:scale>
        <p:origin x="1784" y="4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olorful carved figures of humans">
            <a:extLst>
              <a:ext uri="{FF2B5EF4-FFF2-40B4-BE49-F238E27FC236}">
                <a16:creationId xmlns:a16="http://schemas.microsoft.com/office/drawing/2014/main" id="{FDD537E3-AF59-A8A7-D8F1-F60FC29ECE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96" r="23264" b="-1"/>
          <a:stretch>
            <a:fillRect/>
          </a:stretch>
        </p:blipFill>
        <p:spPr>
          <a:xfrm>
            <a:off x="20" y="10"/>
            <a:ext cx="5124486" cy="6857990"/>
          </a:xfrm>
          <a:custGeom>
            <a:avLst/>
            <a:gdLst/>
            <a:ahLst/>
            <a:cxnLst/>
            <a:rect l="l" t="t" r="r" b="b"/>
            <a:pathLst>
              <a:path w="6832674" h="6858000">
                <a:moveTo>
                  <a:pt x="0" y="0"/>
                </a:moveTo>
                <a:lnTo>
                  <a:pt x="6832674" y="0"/>
                </a:lnTo>
                <a:lnTo>
                  <a:pt x="6749707" y="183520"/>
                </a:lnTo>
                <a:cubicBezTo>
                  <a:pt x="6327787" y="1181050"/>
                  <a:pt x="6094475" y="2277779"/>
                  <a:pt x="6094475" y="3429000"/>
                </a:cubicBezTo>
                <a:cubicBezTo>
                  <a:pt x="6094475" y="4580222"/>
                  <a:pt x="6327787" y="5676950"/>
                  <a:pt x="6749707" y="6674481"/>
                </a:cubicBezTo>
                <a:lnTo>
                  <a:pt x="683267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9089" y="1039091"/>
            <a:ext cx="3794802" cy="4923559"/>
          </a:xfrm>
        </p:spPr>
        <p:txBody>
          <a:bodyPr>
            <a:normAutofit/>
          </a:bodyPr>
          <a:lstStyle/>
          <a:p>
            <a:r>
              <a:rPr lang="en-PH" sz="2800" b="1" dirty="0"/>
              <a:t>Topic: Demographic Transition, Migration, and Urbanization</a:t>
            </a:r>
            <a:endParaRPr lang="en-PH" sz="2000" dirty="0"/>
          </a:p>
          <a:p>
            <a:r>
              <a:rPr lang="en-PH" sz="2000" dirty="0"/>
              <a:t>Objective:</a:t>
            </a:r>
          </a:p>
          <a:p>
            <a:r>
              <a:rPr lang="en-PH" sz="2000" dirty="0"/>
              <a:t>- Understand how demographic changes, migration </a:t>
            </a:r>
            <a:r>
              <a:rPr lang="en-PH" sz="2800" dirty="0"/>
              <a:t>patterns</a:t>
            </a:r>
            <a:r>
              <a:rPr lang="en-PH" sz="2000" dirty="0"/>
              <a:t>, and urbanization are interrelated.</a:t>
            </a:r>
          </a:p>
          <a:p>
            <a:r>
              <a:rPr lang="en-PH" sz="2000" dirty="0"/>
              <a:t>- Encourage critical thinking and collaboration using real-world examples.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91" y="344742"/>
            <a:ext cx="5605629" cy="1331657"/>
          </a:xfrm>
        </p:spPr>
        <p:txBody>
          <a:bodyPr>
            <a:normAutofit/>
          </a:bodyPr>
          <a:lstStyle/>
          <a:p>
            <a:r>
              <a:rPr lang="en-PH" sz="480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1" y="1870364"/>
            <a:ext cx="5547676" cy="4145807"/>
          </a:xfrm>
        </p:spPr>
        <p:txBody>
          <a:bodyPr anchor="ctr">
            <a:normAutofit lnSpcReduction="10000"/>
          </a:bodyPr>
          <a:lstStyle/>
          <a:p>
            <a:r>
              <a:rPr lang="en-PH" sz="2400" dirty="0"/>
              <a:t>Activity: Quick Think-Pair-Share</a:t>
            </a:r>
          </a:p>
          <a:p>
            <a:endParaRPr lang="en-PH" sz="2400" dirty="0"/>
          </a:p>
          <a:p>
            <a:r>
              <a:rPr lang="en-PH" sz="2400" dirty="0"/>
              <a:t>“What comes to your mind when you hear the words population growth, migration, and urbanization?”</a:t>
            </a:r>
          </a:p>
          <a:p>
            <a:endParaRPr lang="en-PH" sz="2400" dirty="0"/>
          </a:p>
          <a:p>
            <a:r>
              <a:rPr lang="en-PH" sz="2400" dirty="0"/>
              <a:t>Steps:</a:t>
            </a:r>
          </a:p>
          <a:p>
            <a:r>
              <a:rPr lang="en-PH" sz="2400" dirty="0"/>
              <a:t>1. Think individually (1 min)</a:t>
            </a:r>
          </a:p>
          <a:p>
            <a:r>
              <a:rPr lang="en-PH" sz="2400" dirty="0"/>
              <a:t>2. Pair up to discuss (3 min)</a:t>
            </a:r>
          </a:p>
          <a:p>
            <a:r>
              <a:rPr lang="en-PH" sz="2400" dirty="0"/>
              <a:t>3. Share insights with the class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Share With Person">
            <a:extLst>
              <a:ext uri="{FF2B5EF4-FFF2-40B4-BE49-F238E27FC236}">
                <a16:creationId xmlns:a16="http://schemas.microsoft.com/office/drawing/2014/main" id="{D4B85DDE-6BA3-8250-8839-EF3A03A17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Lecture / Input (10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Key Concepts:</a:t>
            </a:r>
          </a:p>
          <a:p>
            <a:endParaRPr dirty="0"/>
          </a:p>
          <a:p>
            <a:r>
              <a:rPr dirty="0"/>
              <a:t>Demographic Transition – Change from high birth and death rates to low rates.</a:t>
            </a:r>
          </a:p>
          <a:p>
            <a:r>
              <a:rPr dirty="0"/>
              <a:t>• Stages 1–4 (sometimes 5): Pre-industrial → Transitional → Industrial → Post-industrial</a:t>
            </a:r>
          </a:p>
          <a:p>
            <a:r>
              <a:rPr dirty="0"/>
              <a:t>• Example: The Philippines is in late Stage 3 to Stage 4.</a:t>
            </a:r>
          </a:p>
          <a:p>
            <a:endParaRPr dirty="0"/>
          </a:p>
          <a:p>
            <a:r>
              <a:rPr dirty="0"/>
              <a:t>Migration – Movement of people for work, education, or safety.</a:t>
            </a:r>
          </a:p>
          <a:p>
            <a:r>
              <a:rPr dirty="0"/>
              <a:t>• Internal vs. International</a:t>
            </a:r>
          </a:p>
          <a:p>
            <a:r>
              <a:rPr dirty="0"/>
              <a:t>• Push and Pull factors</a:t>
            </a:r>
          </a:p>
          <a:p>
            <a:endParaRPr dirty="0"/>
          </a:p>
          <a:p>
            <a:r>
              <a:rPr dirty="0"/>
              <a:t>Urbanization – Growth of city populations.</a:t>
            </a:r>
          </a:p>
          <a:p>
            <a:r>
              <a:rPr dirty="0"/>
              <a:t>• Driven by industrialization and migration.</a:t>
            </a:r>
          </a:p>
          <a:p>
            <a:r>
              <a:rPr dirty="0"/>
              <a:t>• Brings opportunities and challenges.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PH" sz="3700" b="1">
                <a:solidFill>
                  <a:srgbClr val="FFFFFF"/>
                </a:solidFill>
              </a:rPr>
              <a:t>Group Discussion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8185" y="274241"/>
            <a:ext cx="5340690" cy="6219824"/>
          </a:xfrm>
        </p:spPr>
        <p:txBody>
          <a:bodyPr anchor="ctr">
            <a:normAutofit fontScale="77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PH" sz="2800" dirty="0"/>
              <a:t>Group 1,2 &amp;3: Demographic Transition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PH" sz="2800" dirty="0"/>
              <a:t>- What stage is the Philippines in?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PH" sz="2800" dirty="0"/>
              <a:t>- What are the social and economic effects?</a:t>
            </a:r>
          </a:p>
          <a:p>
            <a:pPr>
              <a:lnSpc>
                <a:spcPct val="90000"/>
              </a:lnSpc>
            </a:pPr>
            <a:endParaRPr lang="en-PH" sz="2800" dirty="0"/>
          </a:p>
          <a:p>
            <a:pPr marL="0" indent="0">
              <a:lnSpc>
                <a:spcPct val="90000"/>
              </a:lnSpc>
              <a:buNone/>
            </a:pPr>
            <a:r>
              <a:rPr lang="en-PH" sz="2800" dirty="0"/>
              <a:t>Group 4,5 &amp; 6: Migration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PH" sz="2800" dirty="0"/>
              <a:t>- Why do Filipinos migrate abroad or to cities?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PH" sz="2800" dirty="0"/>
              <a:t>- How does migration affect families and communities?</a:t>
            </a:r>
          </a:p>
          <a:p>
            <a:pPr>
              <a:lnSpc>
                <a:spcPct val="90000"/>
              </a:lnSpc>
            </a:pPr>
            <a:endParaRPr lang="en-PH" sz="2800" dirty="0"/>
          </a:p>
          <a:p>
            <a:pPr marL="0" indent="0">
              <a:lnSpc>
                <a:spcPct val="90000"/>
              </a:lnSpc>
              <a:buNone/>
            </a:pPr>
            <a:r>
              <a:rPr lang="en-PH" sz="2800" dirty="0"/>
              <a:t>Group 7-8: Urbanization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PH" sz="2800" dirty="0"/>
              <a:t>- What are the advantages and disadvantages?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PH" sz="2800" dirty="0"/>
              <a:t>How can we make cities sustainable and livable?</a:t>
            </a:r>
          </a:p>
          <a:p>
            <a:pPr marL="0" indent="0">
              <a:lnSpc>
                <a:spcPct val="90000"/>
              </a:lnSpc>
              <a:buNone/>
            </a:pPr>
            <a:endParaRPr lang="en-PH" sz="2800" dirty="0"/>
          </a:p>
          <a:p>
            <a:pPr marL="0" indent="0">
              <a:lnSpc>
                <a:spcPct val="90000"/>
              </a:lnSpc>
              <a:buNone/>
            </a:pPr>
            <a:r>
              <a:rPr lang="en-PH" sz="2800" dirty="0"/>
              <a:t>Group 9-10: Poster Making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PH" sz="2800" dirty="0"/>
              <a:t>Design an infographic showing the stages of demographic transition and their effects.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PH" sz="3400" dirty="0">
                <a:solidFill>
                  <a:srgbClr val="FFFFFF"/>
                </a:solidFill>
              </a:rPr>
              <a:t>Group Discussion Instructions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dirty="0"/>
              <a:t>Discuss for 10–15 minutes.</a:t>
            </a:r>
          </a:p>
          <a:p>
            <a:r>
              <a:rPr dirty="0"/>
              <a:t>Assign a </a:t>
            </a:r>
            <a:r>
              <a:rPr dirty="0" err="1"/>
              <a:t>raporter</a:t>
            </a:r>
            <a:r>
              <a:rPr dirty="0"/>
              <a:t> to summarize.</a:t>
            </a:r>
          </a:p>
          <a:p>
            <a:r>
              <a:rPr dirty="0"/>
              <a:t>Encourage examples, stories, or current events.</a:t>
            </a:r>
          </a:p>
          <a:p>
            <a:r>
              <a:rPr dirty="0"/>
              <a:t>Goal: Promote collaboration and critical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PH" dirty="0">
                <a:solidFill>
                  <a:srgbClr val="FFFFFF"/>
                </a:solidFill>
              </a:rPr>
              <a:t>Class Sharing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dirty="0"/>
              <a:t>Each group presents for 3–4 minutes.</a:t>
            </a:r>
          </a:p>
          <a:p>
            <a:r>
              <a:rPr dirty="0"/>
              <a:t>After each presentation, open the floor for 1–2 questions from other groups.</a:t>
            </a:r>
          </a:p>
          <a:p>
            <a:pPr marL="0" indent="0">
              <a:buNone/>
            </a:pPr>
            <a:r>
              <a:rPr lang="en-US" dirty="0"/>
              <a:t>Note:</a:t>
            </a:r>
            <a:endParaRPr dirty="0"/>
          </a:p>
          <a:p>
            <a:r>
              <a:rPr dirty="0"/>
              <a:t>Purpose: Promote active listening and peer learning.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PH" sz="4800" b="1" dirty="0"/>
              <a:t>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1974716"/>
            <a:ext cx="5820484" cy="4381633"/>
          </a:xfrm>
        </p:spPr>
        <p:txBody>
          <a:bodyPr anchor="ctr">
            <a:normAutofit fontScale="92500" lnSpcReduction="10000"/>
          </a:bodyPr>
          <a:lstStyle/>
          <a:p>
            <a:r>
              <a:rPr lang="en-PH" sz="2800" dirty="0"/>
              <a:t>Wrap-Up!</a:t>
            </a:r>
          </a:p>
          <a:p>
            <a:pPr marL="0" indent="0">
              <a:buNone/>
            </a:pPr>
            <a:r>
              <a:rPr lang="en-PH" sz="2800" dirty="0"/>
              <a:t>- Population growth influences migration.</a:t>
            </a:r>
          </a:p>
          <a:p>
            <a:pPr marL="0" indent="0">
              <a:buNone/>
            </a:pPr>
            <a:r>
              <a:rPr lang="en-PH" sz="2800" dirty="0"/>
              <a:t>- Migration drives urbanization.</a:t>
            </a:r>
          </a:p>
          <a:p>
            <a:pPr marL="0" indent="0">
              <a:buNone/>
            </a:pPr>
            <a:r>
              <a:rPr lang="en-PH" sz="2800" dirty="0"/>
              <a:t>- Urbanization shapes demographic patterns.</a:t>
            </a:r>
          </a:p>
          <a:p>
            <a:endParaRPr lang="en-PH" sz="2800" dirty="0"/>
          </a:p>
          <a:p>
            <a:r>
              <a:rPr lang="en-PH" sz="2800" dirty="0"/>
              <a:t>Reflective Question:</a:t>
            </a:r>
          </a:p>
          <a:p>
            <a:pPr marL="0" indent="0">
              <a:buNone/>
            </a:pPr>
            <a:r>
              <a:rPr lang="en-PH" sz="2800" dirty="0"/>
              <a:t>“As future leaders, how can we contribute to sustainable population and urban development in our country?”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52ED1B-63FF-4ABC-9C9A-D8CF4D984F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75" r="30542"/>
          <a:stretch>
            <a:fillRect/>
          </a:stretch>
        </p:blipFill>
        <p:spPr>
          <a:xfrm>
            <a:off x="7094482" y="1"/>
            <a:ext cx="2054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A3D86-B3F1-1298-1FC7-E671A27ED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A44D2FF4-8E7E-5D77-F7EF-B8B93801E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82B5678-D6CA-66DA-95CB-8E0E2FA1F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C2BFC-C4E8-8986-A122-DC6920DFE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PH" sz="4800" b="1" dirty="0"/>
              <a:t>Synthesis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0F987-880A-0D02-DAD8-BBFEA13DD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1" y="1974716"/>
            <a:ext cx="5820484" cy="438163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PH" b="1" dirty="0"/>
              <a:t>Reflective Question:</a:t>
            </a:r>
          </a:p>
          <a:p>
            <a:pPr marL="514350" indent="-514350">
              <a:buAutoNum type="arabicPeriod"/>
            </a:pPr>
            <a:r>
              <a:rPr lang="en-PH" sz="2800" dirty="0"/>
              <a:t>“As future leaders, how can we contribute to sustainable population and urban development in our country?”</a:t>
            </a:r>
          </a:p>
          <a:p>
            <a:pPr marL="0" indent="0">
              <a:buNone/>
            </a:pPr>
            <a:r>
              <a:rPr lang="en-PH" sz="2800" dirty="0"/>
              <a:t>2. “How does migration or urbanization affect my own family or community?”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9579B6-3015-3AD0-88FD-1766FA9FCA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75" r="30542"/>
          <a:stretch>
            <a:fillRect/>
          </a:stretch>
        </p:blipFill>
        <p:spPr>
          <a:xfrm>
            <a:off x="6605752" y="0"/>
            <a:ext cx="24120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57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1838</TotalTime>
  <Words>417</Words>
  <Application>Microsoft Macintosh PowerPoint</Application>
  <PresentationFormat>On-screen Show (4:3)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Introduction</vt:lpstr>
      <vt:lpstr>Mini Lecture / Input (10 minutes)</vt:lpstr>
      <vt:lpstr>Group Discussion</vt:lpstr>
      <vt:lpstr>Group Discussion Instructions</vt:lpstr>
      <vt:lpstr>Class Sharing</vt:lpstr>
      <vt:lpstr>Synthesis</vt:lpstr>
      <vt:lpstr>Synthesis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Jackelyn Legaspi</cp:lastModifiedBy>
  <cp:revision>2</cp:revision>
  <dcterms:created xsi:type="dcterms:W3CDTF">2013-01-27T09:14:16Z</dcterms:created>
  <dcterms:modified xsi:type="dcterms:W3CDTF">2025-11-11T13:52:32Z</dcterms:modified>
  <cp:category/>
</cp:coreProperties>
</file>